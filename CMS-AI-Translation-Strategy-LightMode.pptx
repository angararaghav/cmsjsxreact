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96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DeepL</c:v>
                  </c:pt>
                  <c:pt idx="1">
                    <c:v>Claude</c:v>
                  </c:pt>
                  <c:pt idx="2">
                    <c:v>OpenAI GPT-4o</c:v>
                  </c:pt>
                  <c:pt idx="3">
                    <c:v>Google Translate</c:v>
                  </c:pt>
                  <c:pt idx="4">
                    <c:v>Azure 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</c:v>
                </c:pt>
                <c:pt idx="1">
                  <c:v>96</c:v>
                </c:pt>
                <c:pt idx="2">
                  <c:v>94</c:v>
                </c:pt>
                <c:pt idx="3">
                  <c:v>91</c:v>
                </c:pt>
                <c:pt idx="4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Native Feel</c:v>
                </c:pt>
              </c:strCache>
            </c:strRef>
          </c:tx>
          <c:spPr>
            <a:solidFill>
              <a:srgbClr val="D8DD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DeepL</c:v>
                  </c:pt>
                  <c:pt idx="1">
                    <c:v>Claude</c:v>
                  </c:pt>
                  <c:pt idx="2">
                    <c:v>OpenAI GPT-4o</c:v>
                  </c:pt>
                  <c:pt idx="3">
                    <c:v>Google Translate</c:v>
                  </c:pt>
                  <c:pt idx="4">
                    <c:v>Azure 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99</c:v>
                </c:pt>
                <c:pt idx="1">
                  <c:v>97</c:v>
                </c:pt>
                <c:pt idx="2">
                  <c:v>93</c:v>
                </c:pt>
                <c:pt idx="3">
                  <c:v>85</c:v>
                </c:pt>
                <c:pt idx="4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D8D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2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0967A">
              <a:alpha val="8000"/>
            </a:srgbClr>
          </a:solidFill>
          <a:ln w="12700">
            <a:solidFill>
              <a:srgbClr val="00967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011680" cy="2011680"/>
          </a:xfrm>
          <a:prstGeom prst="ellipse">
            <a:avLst/>
          </a:prstGeom>
          <a:solidFill>
            <a:srgbClr val="00967A">
              <a:alpha val="15000"/>
            </a:srgbClr>
          </a:solidFill>
          <a:ln w="12700">
            <a:solidFill>
              <a:srgbClr val="00967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200400"/>
            <a:ext cx="1280160" cy="1280160"/>
          </a:xfrm>
          <a:prstGeom prst="ellipse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1A73E8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TRANSLATION ENGINE EVALUATION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Translation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for CMS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154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+ Google Translate + Claude API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approach to native-quality global content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4160520"/>
            <a:ext cx="1417320" cy="347472"/>
          </a:xfrm>
          <a:prstGeom prst="rect">
            <a:avLst/>
          </a:prstGeom>
          <a:solidFill>
            <a:srgbClr val="00967A">
              <a:alpha val="12000"/>
            </a:srgbClr>
          </a:solidFill>
          <a:ln w="12700">
            <a:solidFill>
              <a:srgbClr val="00967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160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Primary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75688" y="4160520"/>
            <a:ext cx="1417320" cy="347472"/>
          </a:xfrm>
          <a:prstGeom prst="rect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1A73E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4160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Fallback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48456" y="4160520"/>
            <a:ext cx="1417320" cy="347472"/>
          </a:xfrm>
          <a:prstGeom prst="rect">
            <a:avLst/>
          </a:prstGeom>
          <a:solidFill>
            <a:srgbClr val="D4520A">
              <a:alpha val="12000"/>
            </a:srgbClr>
          </a:solidFill>
          <a:ln w="12700">
            <a:solidFill>
              <a:srgbClr val="D4520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8456" y="4160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Premium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languages · 133 languages · Brand-critical copy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Engines Evaluated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Native Feel Score (%)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00584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777240"/>
          <a:ext cx="41605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548640"/>
                <a:gridCol w="640080"/>
                <a:gridCol w="685800"/>
                <a:gridCol w="640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Provider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Langs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Cost/M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Free Tier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967A"/>
                          </a:solidFill>
                        </a:rPr>
                        <a:t>DeepL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</a:rPr>
                        <a:t>Google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520A"/>
                          </a:solidFill>
                        </a:rPr>
                        <a:t>Claude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$3*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PAYG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62AD"/>
                          </a:solidFill>
                        </a:rPr>
                        <a:t>Azure AI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8C6A"/>
                          </a:solidFill>
                        </a:rPr>
                        <a:t>OpenAI GPT-4o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$5*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PAYG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663440" y="306324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663440" y="3319272"/>
            <a:ext cx="54864" cy="274320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00600" y="33192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DeepL: 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532120" y="3319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languages, e-commerce product content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63440" y="3694176"/>
            <a:ext cx="54864" cy="2743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00600" y="36941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532120" y="3694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High-volume, wide language coverage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4069080"/>
            <a:ext cx="54864" cy="274320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00600" y="4069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532120" y="4069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copy, brand voice, campaigns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63440" y="4443984"/>
            <a:ext cx="54864" cy="274320"/>
          </a:xfrm>
          <a:prstGeom prst="rect">
            <a:avLst/>
          </a:prstGeom>
          <a:solidFill>
            <a:srgbClr val="0062AD"/>
          </a:solidFill>
          <a:ln w="12700">
            <a:solidFill>
              <a:srgbClr val="0062A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00600" y="44439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532120" y="44439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already in Microsoft / Azure stack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Per million tokens (not chars). DeepL/Google/Azure billed per character.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7A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01168" cy="1325880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412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STRATEGY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+ Google Translate + Claude API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DeepL as your primary engine for major-market languages. Fall back to Google for long-tail coverage. Route brand-critical content through Claude for native voice quality.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7A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86000"/>
            <a:ext cx="2743200" cy="73152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377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ENGINE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" y="26151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DeepL 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912" y="29443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languages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32004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 content, descriptions, UI copy for major EU markets + JA + ZH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22860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E8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2286000"/>
            <a:ext cx="2743200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2377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ENGINE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9272" y="26151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Google Translate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19272" y="29443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languages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32004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outside DeepL coverage: TH, MS, SW, AR and 90+ long-tail markets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2286000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520A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286000"/>
            <a:ext cx="2743200" cy="73152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2377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LAYER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9632" y="261518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Claude API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99632" y="29443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languages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32004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banners, campaign copy, brand voice where nuance and tone are critical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754880"/>
            <a:ext cx="2011680" cy="274320"/>
          </a:xfrm>
          <a:prstGeom prst="rect">
            <a:avLst/>
          </a:prstGeom>
          <a:solidFill>
            <a:srgbClr val="EDF0F5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— $125/mo  ~5M chars/mo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23160" y="4754880"/>
            <a:ext cx="2011680" cy="274320"/>
          </a:xfrm>
          <a:prstGeom prst="rect">
            <a:avLst/>
          </a:prstGeom>
          <a:solidFill>
            <a:srgbClr val="EDF0F5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$40/mo  ~2M chars/mo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4754880"/>
            <a:ext cx="2011680" cy="274320"/>
          </a:xfrm>
          <a:prstGeom prst="rect">
            <a:avLst/>
          </a:prstGeom>
          <a:solidFill>
            <a:srgbClr val="EDF0F5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~$7/mo  ~500K tokens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20840" y="4754880"/>
            <a:ext cx="2011680" cy="274320"/>
          </a:xfrm>
          <a:prstGeom prst="rect">
            <a:avLst/>
          </a:prstGeom>
          <a:solidFill>
            <a:srgbClr val="7B3FA0">
              <a:alpha val="12000"/>
            </a:srgbClr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 — ~$175/mo  Mid-scale store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48500"/>
          </a:solidFill>
          <a:ln w="12700">
            <a:solidFill>
              <a:srgbClr val="C48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DECISION MATRIX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34640" y="74980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Language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7498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0" y="749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51560"/>
            <a:ext cx="54864" cy="548640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51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titles &amp; descriptions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051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FR ES IT NL PL PT JA ZH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70432"/>
            <a:ext cx="1353312" cy="310896"/>
          </a:xfrm>
          <a:prstGeom prst="rect">
            <a:avLst/>
          </a:prstGeom>
          <a:solidFill>
            <a:srgbClr val="00967A">
              <a:alpha val="12000"/>
            </a:srgbClr>
          </a:solidFill>
          <a:ln w="12700">
            <a:solidFill>
              <a:srgbClr val="00967A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7043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36208" y="1051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natural quality for EU + Asia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664208"/>
            <a:ext cx="8595360" cy="548640"/>
          </a:xfrm>
          <a:prstGeom prst="rect">
            <a:avLst/>
          </a:prstGeom>
          <a:solidFill>
            <a:srgbClr val="EDF0F5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664208"/>
            <a:ext cx="54864" cy="5486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6642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labels, buttons, navigation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166420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languages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783080"/>
            <a:ext cx="1353312" cy="310896"/>
          </a:xfrm>
          <a:prstGeom prst="rect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1A73E8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78308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36208" y="16642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cost efficiency for high volume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276856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276856"/>
            <a:ext cx="54864" cy="548640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27685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headlines, hero text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227685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markets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395728"/>
            <a:ext cx="1353312" cy="310896"/>
          </a:xfrm>
          <a:prstGeom prst="rect">
            <a:avLst/>
          </a:prstGeom>
          <a:solidFill>
            <a:srgbClr val="D4520A">
              <a:alpha val="12000"/>
            </a:srgbClr>
          </a:solidFill>
          <a:ln w="12700">
            <a:solidFill>
              <a:srgbClr val="D4520A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39572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2276856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preservation, native feel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889504"/>
            <a:ext cx="8595360" cy="548640"/>
          </a:xfrm>
          <a:prstGeom prst="rect">
            <a:avLst/>
          </a:prstGeom>
          <a:solidFill>
            <a:srgbClr val="EDF0F5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889504"/>
            <a:ext cx="54864" cy="548640"/>
          </a:xfrm>
          <a:prstGeom prst="rect">
            <a:avLst/>
          </a:prstGeom>
          <a:solidFill>
            <a:srgbClr val="C48500"/>
          </a:solidFill>
          <a:ln w="12700">
            <a:solidFill>
              <a:srgbClr val="C48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889504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Terms &amp; Conditions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28895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languages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008376"/>
            <a:ext cx="1353312" cy="310896"/>
          </a:xfrm>
          <a:prstGeom prst="rect">
            <a:avLst/>
          </a:prstGeom>
          <a:solidFill>
            <a:srgbClr val="C48500">
              <a:alpha val="12000"/>
            </a:srgbClr>
          </a:solidFill>
          <a:ln w="12700">
            <a:solidFill>
              <a:srgbClr val="C48500">
                <a:alpha val="3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00837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+ Human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2889504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critical + legal liability review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502152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502152"/>
            <a:ext cx="54864" cy="5486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502152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meta descriptions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34640" y="35021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languages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621024"/>
            <a:ext cx="1353312" cy="310896"/>
          </a:xfrm>
          <a:prstGeom prst="rect">
            <a:avLst/>
          </a:prstGeom>
          <a:solidFill>
            <a:srgbClr val="7B3FA0">
              <a:alpha val="12000"/>
            </a:srgbClr>
          </a:solidFill>
          <a:ln w="12700">
            <a:solidFill>
              <a:srgbClr val="7B3FA0">
                <a:alpha val="3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62102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+ Claude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36208" y="35021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Keyword-aware output with brand consistency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114800"/>
            <a:ext cx="8595360" cy="548640"/>
          </a:xfrm>
          <a:prstGeom prst="rect">
            <a:avLst/>
          </a:prstGeom>
          <a:solidFill>
            <a:srgbClr val="EDF0F5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4114800"/>
            <a:ext cx="54864" cy="548640"/>
          </a:xfrm>
          <a:prstGeom prst="rect">
            <a:avLst/>
          </a:prstGeom>
          <a:solidFill>
            <a:srgbClr val="8891AA"/>
          </a:solidFill>
          <a:ln w="12700">
            <a:solidFill>
              <a:srgbClr val="8891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1148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/ long-tail languages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834640" y="4114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MS SW AR etc.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4233672"/>
            <a:ext cx="1353312" cy="310896"/>
          </a:xfrm>
          <a:prstGeom prst="rect">
            <a:avLst/>
          </a:prstGeom>
          <a:solidFill>
            <a:srgbClr val="8891AA">
              <a:alpha val="12000"/>
            </a:srgbClr>
          </a:solidFill>
          <a:ln w="12700">
            <a:solidFill>
              <a:srgbClr val="8891AA">
                <a:alpha val="3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423367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36208" y="4114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 does not support these languages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TRANSLATION PIPELINE — CMS TO STOREFRONT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143560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520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77240"/>
            <a:ext cx="1435608" cy="91440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960120"/>
            <a:ext cx="493776" cy="493776"/>
          </a:xfrm>
          <a:prstGeom prst="ellipse">
            <a:avLst/>
          </a:prstGeom>
          <a:solidFill>
            <a:srgbClr val="D4520A">
              <a:alpha val="12000"/>
            </a:srgbClr>
          </a:solidFill>
          <a:ln w="12700">
            <a:solidFill>
              <a:srgbClr val="D4520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960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" y="1554480"/>
            <a:ext cx="1252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1106424" cy="13716"/>
          </a:xfrm>
          <a:prstGeom prst="rect">
            <a:avLst/>
          </a:prstGeom>
          <a:solidFill>
            <a:srgbClr val="D4520A">
              <a:alpha val="35000"/>
            </a:srgbClr>
          </a:solidFill>
          <a:ln w="12700">
            <a:solidFill>
              <a:srgbClr val="D4520A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331720"/>
            <a:ext cx="125272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saves content in CMS. Webhook fires translation pipeline asynchronously — never blocks the editor.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45920" y="2834640"/>
            <a:ext cx="82296" cy="0"/>
          </a:xfrm>
          <a:prstGeom prst="line">
            <a:avLst/>
          </a:prstGeom>
          <a:noFill/>
          <a:ln w="19050">
            <a:solidFill>
              <a:srgbClr val="D452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28216" y="777240"/>
            <a:ext cx="143560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850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28216" y="777240"/>
            <a:ext cx="1435608" cy="91440"/>
          </a:xfrm>
          <a:prstGeom prst="rect">
            <a:avLst/>
          </a:prstGeom>
          <a:solidFill>
            <a:srgbClr val="C48500"/>
          </a:solidFill>
          <a:ln w="12700">
            <a:solidFill>
              <a:srgbClr val="C48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03704" y="960120"/>
            <a:ext cx="493776" cy="493776"/>
          </a:xfrm>
          <a:prstGeom prst="ellipse">
            <a:avLst/>
          </a:prstGeom>
          <a:solidFill>
            <a:srgbClr val="C48500">
              <a:alpha val="12000"/>
            </a:srgbClr>
          </a:solidFill>
          <a:ln w="12700">
            <a:solidFill>
              <a:srgbClr val="C4850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960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19656" y="1554480"/>
            <a:ext cx="1252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92808" y="2240280"/>
            <a:ext cx="1106424" cy="13716"/>
          </a:xfrm>
          <a:prstGeom prst="rect">
            <a:avLst/>
          </a:prstGeom>
          <a:solidFill>
            <a:srgbClr val="C48500">
              <a:alpha val="35000"/>
            </a:srgbClr>
          </a:solidFill>
          <a:ln w="12700">
            <a:solidFill>
              <a:srgbClr val="C48500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9656" y="2331720"/>
            <a:ext cx="125272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{placeholders}, classify content type, look up glossary terms, inject translation context.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72968" y="2834640"/>
            <a:ext cx="82296" cy="0"/>
          </a:xfrm>
          <a:prstGeom prst="line">
            <a:avLst/>
          </a:prstGeom>
          <a:noFill/>
          <a:ln w="19050">
            <a:solidFill>
              <a:srgbClr val="C48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55264" y="777240"/>
            <a:ext cx="143560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7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55264" y="777240"/>
            <a:ext cx="1435608" cy="91440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30752" y="960120"/>
            <a:ext cx="493776" cy="493776"/>
          </a:xfrm>
          <a:prstGeom prst="ellipse">
            <a:avLst/>
          </a:prstGeom>
          <a:solidFill>
            <a:srgbClr val="00967A">
              <a:alpha val="12000"/>
            </a:srgbClr>
          </a:solidFill>
          <a:ln w="12700">
            <a:solidFill>
              <a:srgbClr val="00967A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960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46704" y="1554480"/>
            <a:ext cx="1252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Cache Check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19856" y="2240280"/>
            <a:ext cx="1106424" cy="13716"/>
          </a:xfrm>
          <a:prstGeom prst="rect">
            <a:avLst/>
          </a:prstGeom>
          <a:solidFill>
            <a:srgbClr val="00967A">
              <a:alpha val="35000"/>
            </a:srgbClr>
          </a:solidFill>
          <a:ln w="12700">
            <a:solidFill>
              <a:srgbClr val="00967A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46704" y="2331720"/>
            <a:ext cx="125272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lookup in Redis. Exact hit = instant $0 delivery. Fuzzy hit = draft + review. Miss = route to API.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0016" y="2834640"/>
            <a:ext cx="82296" cy="0"/>
          </a:xfrm>
          <a:prstGeom prst="line">
            <a:avLst/>
          </a:prstGeom>
          <a:noFill/>
          <a:ln w="19050">
            <a:solidFill>
              <a:srgbClr val="0096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82312" y="777240"/>
            <a:ext cx="143560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D3452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82312" y="777240"/>
            <a:ext cx="1435608" cy="91440"/>
          </a:xfrm>
          <a:prstGeom prst="rect">
            <a:avLst/>
          </a:prstGeom>
          <a:solidFill>
            <a:srgbClr val="2D3452"/>
          </a:solidFill>
          <a:ln w="12700">
            <a:solidFill>
              <a:srgbClr val="2D34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7800" y="960120"/>
            <a:ext cx="493776" cy="493776"/>
          </a:xfrm>
          <a:prstGeom prst="ellipse">
            <a:avLst/>
          </a:prstGeom>
          <a:solidFill>
            <a:srgbClr val="2D3452">
              <a:alpha val="12000"/>
            </a:srgbClr>
          </a:solidFill>
          <a:ln w="12700">
            <a:solidFill>
              <a:srgbClr val="2D3452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960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3752" y="1554480"/>
            <a:ext cx="1252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46904" y="2240280"/>
            <a:ext cx="1106424" cy="13716"/>
          </a:xfrm>
          <a:prstGeom prst="rect">
            <a:avLst/>
          </a:prstGeom>
          <a:solidFill>
            <a:srgbClr val="2D3452">
              <a:alpha val="35000"/>
            </a:srgbClr>
          </a:solidFill>
          <a:ln w="12700">
            <a:solidFill>
              <a:srgbClr val="2D3452">
                <a:alpha val="3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2331720"/>
            <a:ext cx="125272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content type + target language: DeepL for major markets, Google for long-tail, Claude for brand copy.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27064" y="2834640"/>
            <a:ext cx="82296" cy="0"/>
          </a:xfrm>
          <a:prstGeom prst="line">
            <a:avLst/>
          </a:prstGeom>
          <a:noFill/>
          <a:ln w="19050">
            <a:solidFill>
              <a:srgbClr val="2D34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777240"/>
            <a:ext cx="143560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3FA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777240"/>
            <a:ext cx="1435608" cy="9144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84848" y="960120"/>
            <a:ext cx="493776" cy="493776"/>
          </a:xfrm>
          <a:prstGeom prst="ellipse">
            <a:avLst/>
          </a:prstGeom>
          <a:solidFill>
            <a:srgbClr val="7B3FA0">
              <a:alpha val="12000"/>
            </a:srgbClr>
          </a:solidFill>
          <a:ln w="12700">
            <a:solidFill>
              <a:srgbClr val="7B3FA0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84848" y="960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1554480"/>
            <a:ext cx="1252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73952" y="2240280"/>
            <a:ext cx="1106424" cy="13716"/>
          </a:xfrm>
          <a:prstGeom prst="rect">
            <a:avLst/>
          </a:prstGeom>
          <a:solidFill>
            <a:srgbClr val="7B3FA0">
              <a:alpha val="35000"/>
            </a:srgbClr>
          </a:solidFill>
          <a:ln w="12700">
            <a:solidFill>
              <a:srgbClr val="7B3FA0">
                <a:alpha val="3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2331720"/>
            <a:ext cx="125272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placeholders, validate glossary terms, check length ratio, compute BLEU + rule-based quality score.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754112" y="2834640"/>
            <a:ext cx="82296" cy="0"/>
          </a:xfrm>
          <a:prstGeom prst="line">
            <a:avLst/>
          </a:prstGeom>
          <a:noFill/>
          <a:ln w="19050">
            <a:solidFill>
              <a:srgbClr val="7B3F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36408" y="777240"/>
            <a:ext cx="143560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836408" y="777240"/>
            <a:ext cx="1435608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11896" y="960120"/>
            <a:ext cx="493776" cy="493776"/>
          </a:xfrm>
          <a:prstGeom prst="ellipse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11896" y="960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927848" y="1554480"/>
            <a:ext cx="1252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001000" y="2240280"/>
            <a:ext cx="1106424" cy="13716"/>
          </a:xfrm>
          <a:prstGeom prst="rect">
            <a:avLst/>
          </a:prstGeom>
          <a:solidFill>
            <a:srgbClr val="C0392B">
              <a:alpha val="35000"/>
            </a:srgbClr>
          </a:solidFill>
          <a:ln w="12700">
            <a:solidFill>
              <a:srgbClr val="C0392B">
                <a:alpha val="3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27848" y="2331720"/>
            <a:ext cx="125272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auto-publish to CDN · 80–95% editor review queue · &lt;80% blocked and auto-re-translated.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Memory cache check (Step 3) reduces translation API spend by 40–70% at scale by serving cached segments instantly.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— Click nodes in the interactive JSX dashboard to explore details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548640"/>
          </a:xfrm>
          <a:prstGeom prst="rect">
            <a:avLst/>
          </a:prstGeom>
          <a:solidFill>
            <a:srgbClr val="D4520A">
              <a:alpha val="6000"/>
            </a:srgbClr>
          </a:solidFill>
          <a:ln w="12700">
            <a:solidFill>
              <a:srgbClr val="D4520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" y="685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1252728"/>
            <a:ext cx="9144000" cy="548640"/>
          </a:xfrm>
          <a:prstGeom prst="rect">
            <a:avLst/>
          </a:prstGeom>
          <a:solidFill>
            <a:srgbClr val="C48500">
              <a:alpha val="6000"/>
            </a:srgbClr>
          </a:solidFill>
          <a:ln w="12700">
            <a:solidFill>
              <a:srgbClr val="C48500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1280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C4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0" y="1847088"/>
            <a:ext cx="9144000" cy="640080"/>
          </a:xfrm>
          <a:prstGeom prst="rect">
            <a:avLst/>
          </a:prstGeom>
          <a:solidFill>
            <a:srgbClr val="00967A">
              <a:alpha val="6000"/>
            </a:srgbClr>
          </a:solidFill>
          <a:ln w="12700">
            <a:solidFill>
              <a:srgbClr val="00967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" y="1874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ROUTING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0" y="2542032"/>
            <a:ext cx="9144000" cy="640080"/>
          </a:xfrm>
          <a:prstGeom prst="rect">
            <a:avLst/>
          </a:prstGeom>
          <a:solidFill>
            <a:srgbClr val="1A73E8">
              <a:alpha val="6000"/>
            </a:srgbClr>
          </a:solidFill>
          <a:ln w="12700">
            <a:solidFill>
              <a:srgbClr val="1A73E8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" y="25694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ENGINES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0" y="3236976"/>
            <a:ext cx="9144000" cy="548640"/>
          </a:xfrm>
          <a:prstGeom prst="rect">
            <a:avLst/>
          </a:prstGeom>
          <a:solidFill>
            <a:srgbClr val="7B3FA0">
              <a:alpha val="6000"/>
            </a:srgbClr>
          </a:solidFill>
          <a:ln w="12700">
            <a:solidFill>
              <a:srgbClr val="7B3FA0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" y="32644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+ GATE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0" y="3840480"/>
            <a:ext cx="9144000" cy="621792"/>
          </a:xfrm>
          <a:prstGeom prst="rect">
            <a:avLst/>
          </a:prstGeom>
          <a:solidFill>
            <a:srgbClr val="00967A">
              <a:alpha val="6000"/>
            </a:srgbClr>
          </a:solidFill>
          <a:ln w="12700">
            <a:solidFill>
              <a:srgbClr val="00967A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" y="386791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474720" y="704088"/>
            <a:ext cx="2194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4520A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0" y="704088"/>
            <a:ext cx="45720" cy="438912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70408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CMS / Content Editor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0" y="1298448"/>
            <a:ext cx="5120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48500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11680" y="1298448"/>
            <a:ext cx="45720" cy="438912"/>
          </a:xfrm>
          <a:prstGeom prst="rect">
            <a:avLst/>
          </a:prstGeom>
          <a:solidFill>
            <a:srgbClr val="C48500"/>
          </a:solidFill>
          <a:ln w="12700">
            <a:solidFill>
              <a:srgbClr val="C48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129844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Pre-Processing — Classify · Protect tags · Glossary lookup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" y="1892808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7A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37160" y="1892808"/>
            <a:ext cx="45720" cy="475488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189280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Translation Memory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1892808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D3452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0" y="1892808"/>
            <a:ext cx="45720" cy="475488"/>
          </a:xfrm>
          <a:prstGeom prst="rect">
            <a:avLst/>
          </a:prstGeom>
          <a:solidFill>
            <a:srgbClr val="2D3452"/>
          </a:solidFill>
          <a:ln w="12700">
            <a:solidFill>
              <a:srgbClr val="2D34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18928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Smart Router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78040" y="1892808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2AD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78040" y="1892808"/>
            <a:ext cx="45720" cy="475488"/>
          </a:xfrm>
          <a:prstGeom prst="rect">
            <a:avLst/>
          </a:prstGeom>
          <a:solidFill>
            <a:srgbClr val="0062AD"/>
          </a:solidFill>
          <a:ln w="12700">
            <a:solidFill>
              <a:srgbClr val="0062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189280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Glossary DB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37160" y="2587752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7A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37160" y="2587752"/>
            <a:ext cx="45720" cy="475488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25877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DeepL API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83280" y="258775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E8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83280" y="2587752"/>
            <a:ext cx="45720" cy="47548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25877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Google Translate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78040" y="2587752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520A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78040" y="2587752"/>
            <a:ext cx="45720" cy="475488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9480" y="258775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Claude API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11680" y="3282696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B3FA0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011680" y="3282696"/>
            <a:ext cx="45720" cy="438912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03120" y="32826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Post-Processing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0" y="3282696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48500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029200" y="3282696"/>
            <a:ext cx="45720" cy="438912"/>
          </a:xfrm>
          <a:prstGeom prst="rect">
            <a:avLst/>
          </a:prstGeom>
          <a:solidFill>
            <a:srgbClr val="C48500"/>
          </a:solidFill>
          <a:ln w="12700">
            <a:solidFill>
              <a:srgbClr val="C485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328269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Confidence Gate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38862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7A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3886200"/>
            <a:ext cx="45720" cy="457200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886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 Publish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0" y="38862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8500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0" y="3886200"/>
            <a:ext cx="45720" cy="457200"/>
          </a:xfrm>
          <a:prstGeom prst="rect">
            <a:avLst/>
          </a:prstGeom>
          <a:solidFill>
            <a:srgbClr val="C48500"/>
          </a:solidFill>
          <a:ln w="12700">
            <a:solidFill>
              <a:srgbClr val="C485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0" y="3886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Human Review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943600" y="388620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>
                <a:alpha val="5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943600" y="3886200"/>
            <a:ext cx="457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0" y="3886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Blocked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0" y="1143000"/>
            <a:ext cx="0" cy="155448"/>
          </a:xfrm>
          <a:prstGeom prst="line">
            <a:avLst/>
          </a:prstGeom>
          <a:noFill/>
          <a:ln w="19050">
            <a:solidFill>
              <a:srgbClr val="D4520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0" y="1691640"/>
            <a:ext cx="-2606040" cy="0"/>
          </a:xfrm>
          <a:prstGeom prst="line">
            <a:avLst/>
          </a:prstGeom>
          <a:noFill/>
          <a:ln w="19050">
            <a:solidFill>
              <a:srgbClr val="00967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51560" y="1691640"/>
            <a:ext cx="0" cy="201168"/>
          </a:xfrm>
          <a:prstGeom prst="line">
            <a:avLst/>
          </a:prstGeom>
          <a:noFill/>
          <a:ln w="19050">
            <a:solidFill>
              <a:srgbClr val="00967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1737360"/>
            <a:ext cx="0" cy="155448"/>
          </a:xfrm>
          <a:prstGeom prst="line">
            <a:avLst/>
          </a:prstGeom>
          <a:noFill/>
          <a:ln w="19050">
            <a:solidFill>
              <a:srgbClr val="C485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78040" y="2130552"/>
            <a:ext cx="-1508760" cy="0"/>
          </a:xfrm>
          <a:prstGeom prst="line">
            <a:avLst/>
          </a:prstGeom>
          <a:noFill/>
          <a:ln w="19050">
            <a:solidFill>
              <a:srgbClr val="0062A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65960" y="2130552"/>
            <a:ext cx="1508760" cy="0"/>
          </a:xfrm>
          <a:prstGeom prst="line">
            <a:avLst/>
          </a:prstGeom>
          <a:noFill/>
          <a:ln w="19050">
            <a:solidFill>
              <a:srgbClr val="8891A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0" y="2368296"/>
            <a:ext cx="-3520440" cy="0"/>
          </a:xfrm>
          <a:prstGeom prst="line">
            <a:avLst/>
          </a:prstGeom>
          <a:noFill/>
          <a:ln w="19050">
            <a:solidFill>
              <a:srgbClr val="00967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51560" y="2368296"/>
            <a:ext cx="0" cy="219456"/>
          </a:xfrm>
          <a:prstGeom prst="line">
            <a:avLst/>
          </a:prstGeom>
          <a:noFill/>
          <a:ln w="19050">
            <a:solidFill>
              <a:srgbClr val="00967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0" y="2368296"/>
            <a:ext cx="0" cy="219456"/>
          </a:xfrm>
          <a:prstGeom prst="line">
            <a:avLst/>
          </a:prstGeom>
          <a:noFill/>
          <a:ln w="19050">
            <a:solidFill>
              <a:srgbClr val="1A73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0" y="2368296"/>
            <a:ext cx="2606040" cy="0"/>
          </a:xfrm>
          <a:prstGeom prst="line">
            <a:avLst/>
          </a:prstGeom>
          <a:noFill/>
          <a:ln w="19050">
            <a:solidFill>
              <a:srgbClr val="D4520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78040" y="2368296"/>
            <a:ext cx="0" cy="219456"/>
          </a:xfrm>
          <a:prstGeom prst="line">
            <a:avLst/>
          </a:prstGeom>
          <a:noFill/>
          <a:ln w="19050">
            <a:solidFill>
              <a:srgbClr val="D4520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51560" y="3063240"/>
            <a:ext cx="0" cy="109728"/>
          </a:xfrm>
          <a:prstGeom prst="line">
            <a:avLst/>
          </a:prstGeom>
          <a:noFill/>
          <a:ln w="19050">
            <a:solidFill>
              <a:srgbClr val="00967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51560" y="3172968"/>
            <a:ext cx="2240280" cy="0"/>
          </a:xfrm>
          <a:prstGeom prst="line">
            <a:avLst/>
          </a:prstGeom>
          <a:noFill/>
          <a:ln w="19050">
            <a:solidFill>
              <a:srgbClr val="00967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91840" y="3172968"/>
            <a:ext cx="0" cy="109728"/>
          </a:xfrm>
          <a:prstGeom prst="line">
            <a:avLst/>
          </a:prstGeom>
          <a:noFill/>
          <a:ln w="19050">
            <a:solidFill>
              <a:srgbClr val="00967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72000" y="3063240"/>
            <a:ext cx="0" cy="219456"/>
          </a:xfrm>
          <a:prstGeom prst="line">
            <a:avLst/>
          </a:prstGeom>
          <a:noFill/>
          <a:ln w="19050">
            <a:solidFill>
              <a:srgbClr val="1A73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92440" y="3063240"/>
            <a:ext cx="0" cy="109728"/>
          </a:xfrm>
          <a:prstGeom prst="line">
            <a:avLst/>
          </a:prstGeom>
          <a:noFill/>
          <a:ln w="19050">
            <a:solidFill>
              <a:srgbClr val="D4520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92440" y="3172968"/>
            <a:ext cx="-3063240" cy="0"/>
          </a:xfrm>
          <a:prstGeom prst="line">
            <a:avLst/>
          </a:prstGeom>
          <a:noFill/>
          <a:ln w="19050">
            <a:solidFill>
              <a:srgbClr val="D4520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029200" y="3172968"/>
            <a:ext cx="0" cy="109728"/>
          </a:xfrm>
          <a:prstGeom prst="line">
            <a:avLst/>
          </a:prstGeom>
          <a:noFill/>
          <a:ln w="19050">
            <a:solidFill>
              <a:srgbClr val="D4520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0" y="3502152"/>
            <a:ext cx="457200" cy="0"/>
          </a:xfrm>
          <a:prstGeom prst="line">
            <a:avLst/>
          </a:prstGeom>
          <a:noFill/>
          <a:ln w="19050">
            <a:solidFill>
              <a:srgbClr val="7B3FA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29200" y="3282696"/>
            <a:ext cx="0" cy="219456"/>
          </a:xfrm>
          <a:prstGeom prst="line">
            <a:avLst/>
          </a:prstGeom>
          <a:noFill/>
          <a:ln w="19050">
            <a:solidFill>
              <a:srgbClr val="7B3FA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29200" y="3749040"/>
            <a:ext cx="-3657600" cy="0"/>
          </a:xfrm>
          <a:prstGeom prst="line">
            <a:avLst/>
          </a:prstGeom>
          <a:noFill/>
          <a:ln w="19050">
            <a:solidFill>
              <a:srgbClr val="00967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71600" y="3749040"/>
            <a:ext cx="0" cy="137160"/>
          </a:xfrm>
          <a:prstGeom prst="line">
            <a:avLst/>
          </a:prstGeom>
          <a:noFill/>
          <a:ln w="19050">
            <a:solidFill>
              <a:srgbClr val="00967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29200" y="3794760"/>
            <a:ext cx="-914400" cy="0"/>
          </a:xfrm>
          <a:prstGeom prst="line">
            <a:avLst/>
          </a:prstGeom>
          <a:noFill/>
          <a:ln w="19050">
            <a:solidFill>
              <a:srgbClr val="C485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114800" y="3794760"/>
            <a:ext cx="0" cy="91440"/>
          </a:xfrm>
          <a:prstGeom prst="line">
            <a:avLst/>
          </a:prstGeom>
          <a:noFill/>
          <a:ln w="19050">
            <a:solidFill>
              <a:srgbClr val="C485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32320" y="3749040"/>
            <a:ext cx="-2743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58000" y="3749040"/>
            <a:ext cx="0" cy="13716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37160" y="4754880"/>
            <a:ext cx="411480" cy="54864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94360" y="47183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645920" y="4754880"/>
            <a:ext cx="41148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103120" y="47183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154680" y="4754880"/>
            <a:ext cx="411480" cy="54864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11880" y="47183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663440" y="4754880"/>
            <a:ext cx="411480" cy="54864"/>
          </a:xfrm>
          <a:prstGeom prst="rect">
            <a:avLst/>
          </a:prstGeom>
          <a:solidFill>
            <a:srgbClr val="8891AA"/>
          </a:solidFill>
          <a:ln w="12700">
            <a:solidFill>
              <a:srgbClr val="8891A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120640" y="47183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 — BEFORE EVERY API CALL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sent to an API = generic output. Structured context injected before every call = native-quality, brand-accurate output.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7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4160520" cy="91440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DeepL API — Request Parameters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397764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07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glossary_id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54480" y="1700784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glossary with brand terms and do-not-translate list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3977640" cy="457200"/>
          </a:xfrm>
          <a:prstGeom prst="rect">
            <a:avLst/>
          </a:prstGeom>
          <a:solidFill>
            <a:srgbClr val="EDF0F5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1284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54480" y="221284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prefer_more / prefer_less — formal for DE, informal for NL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88336"/>
            <a:ext cx="397764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249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54480" y="272491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surrounding paragraph for word-sense disambiguation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3977640" cy="457200"/>
          </a:xfrm>
          <a:prstGeom prst="rect">
            <a:avLst/>
          </a:prstGeom>
          <a:solidFill>
            <a:srgbClr val="EDF0F5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369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tag_handling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554480" y="3236976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xml — protects price variables and HTML structure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712464"/>
            <a:ext cx="397764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49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split_sentences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54480" y="374904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nonewlines for UI strings, 1 for long-form content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1115568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520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115568"/>
            <a:ext cx="4160520" cy="91440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2344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Claude API — System Prompt Assembly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1664208"/>
            <a:ext cx="397764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7007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brand_voice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80760" y="17007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guide: premium, confident, no exclamation marks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2176272"/>
            <a:ext cx="3977640" cy="457200"/>
          </a:xfrm>
          <a:prstGeom prst="rect">
            <a:avLst/>
          </a:prstGeom>
          <a:solidFill>
            <a:srgbClr val="EDF0F5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2128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content_type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80760" y="22128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title / hero banner / legal — changes output register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2688336"/>
            <a:ext cx="397764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72491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glossary_block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80760" y="27249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translate: Nike Air Max, FreeReturn, ProCard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200400"/>
            <a:ext cx="3977640" cy="457200"/>
          </a:xfrm>
          <a:prstGeom prst="rect">
            <a:avLst/>
          </a:prstGeom>
          <a:solidFill>
            <a:srgbClr val="EDF0F5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2369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target_audience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80760" y="32369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German-speaking Swiss audience, Swiss German conventions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3712464"/>
            <a:ext cx="397764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7490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80760" y="37490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approved translations as few-shot tone anchors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1A1F36">
              <a:alpha val="7000"/>
            </a:srgbClr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Translate 'Lightweight Trail Runner with AirMax Pro sole' to German (formal) -- AirMax Pro preserved verbatim -- Return ONLY the translated text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MEMORY — ELIMINATING REDUNDANT API CALLS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7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2743200" cy="73152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4124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09728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from TM instantly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38988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84048" y="1755648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segment seen before — zero API call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74980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850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749808"/>
            <a:ext cx="2743200" cy="73152"/>
          </a:xfrm>
          <a:prstGeom prst="rect">
            <a:avLst/>
          </a:prstGeom>
          <a:solidFill>
            <a:srgbClr val="C48500"/>
          </a:solidFill>
          <a:ln w="12700">
            <a:solidFill>
              <a:srgbClr val="C48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84124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4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 (75–99%)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64408" y="109728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TM + flag for review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138988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~10% cost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64408" y="1755648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edit needed — use TM as base, re-translate only the delta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74980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749808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84124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(&lt;75%)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44768" y="109728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translation 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138988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cost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44768" y="1755648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content — translate then store result in TM for reuse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286000"/>
            <a:ext cx="2286000" cy="1051560"/>
          </a:xfrm>
          <a:prstGeom prst="rect">
            <a:avLst/>
          </a:prstGeom>
          <a:solidFill>
            <a:srgbClr val="00967A">
              <a:alpha val="8000"/>
            </a:srgbClr>
          </a:solidFill>
          <a:ln w="12700">
            <a:solidFill>
              <a:srgbClr val="00967A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3317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40–70%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274320" y="29077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API cost reduction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TM at scale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0" y="228600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 TECHNIQUES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0" y="2560320"/>
            <a:ext cx="6126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7A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0" y="2560320"/>
            <a:ext cx="54864" cy="658368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26334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(rapidfuzz)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0360" y="290779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FIRST — ALL SEGMENTS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7220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Microsecond lookup · No GPU needed · Best for short strings and UI labels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0" y="3273552"/>
            <a:ext cx="6126480" cy="658368"/>
          </a:xfrm>
          <a:prstGeom prst="rect">
            <a:avLst/>
          </a:prstGeom>
          <a:solidFill>
            <a:srgbClr val="EDF0F5"/>
          </a:solidFill>
          <a:ln w="12700">
            <a:solidFill>
              <a:srgbClr val="D4520A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0" y="3273552"/>
            <a:ext cx="54864" cy="658368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33467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 Similarity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80360" y="362102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SECOND — PRODUCT CONTENT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72200" y="3364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synonyms · ~50ms latency · sentence-transformers / OpenAI embeddings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0" y="3986784"/>
            <a:ext cx="6126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E8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0" y="3986784"/>
            <a:ext cx="54864" cy="65836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80360" y="40599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TF-IDF Overlap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80360" y="433425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LONG DESCRIPTIONS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72200" y="40782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100+ word content · scikit-learn TfidfVectorizer or Elasticsearch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3429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BY SCENARIO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3721608"/>
            <a:ext cx="22860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721608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re-import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965960" y="3721608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4059936"/>
            <a:ext cx="22860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59936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refresh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965960" y="405993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74320" y="4398264"/>
            <a:ext cx="22860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398264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string releases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965960" y="4398264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74320" y="4736592"/>
            <a:ext cx="22860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736592"/>
            <a:ext cx="1554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variant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965960" y="4736592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48500"/>
          </a:solidFill>
          <a:ln w="12700">
            <a:solidFill>
              <a:srgbClr val="C48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 — AUTO-PUBLISH OR REVIEW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 =  ( BLEU × 0.40 )  +  ( Rule Checks × 0.60 )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7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2743200" cy="73152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0020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AUTO-PUBLISH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99339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Confidence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286000"/>
            <a:ext cx="2523744" cy="13716"/>
          </a:xfrm>
          <a:prstGeom prst="rect">
            <a:avLst/>
          </a:prstGeom>
          <a:solidFill>
            <a:srgbClr val="00967A">
              <a:alpha val="30000"/>
            </a:srgbClr>
          </a:solidFill>
          <a:ln w="12700">
            <a:solidFill>
              <a:srgbClr val="00967A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331720"/>
            <a:ext cx="2542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goes live instantly on storefront CDN. Stored in TM cache. Zero editor involvement.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50876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850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508760"/>
            <a:ext cx="2743200" cy="73152"/>
          </a:xfrm>
          <a:prstGeom prst="rect">
            <a:avLst/>
          </a:prstGeom>
          <a:solidFill>
            <a:srgbClr val="C48500"/>
          </a:solidFill>
          <a:ln w="12700">
            <a:solidFill>
              <a:srgbClr val="C48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60020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EDITOR REVIEW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64408" y="199339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80–95% Confidence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4408" y="2286000"/>
            <a:ext cx="2523744" cy="13716"/>
          </a:xfrm>
          <a:prstGeom prst="rect">
            <a:avLst/>
          </a:prstGeom>
          <a:solidFill>
            <a:srgbClr val="C48500">
              <a:alpha val="30000"/>
            </a:srgbClr>
          </a:solidFill>
          <a:ln w="12700">
            <a:solidFill>
              <a:srgbClr val="C48500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2331720"/>
            <a:ext cx="2542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saved. Editor notified and can approve, edit, or reject. Useful for campaign and legal text.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508760"/>
            <a:ext cx="27432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60020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BLOCKED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44768" y="1993392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&lt;80% Confidence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44768" y="2286000"/>
            <a:ext cx="2523744" cy="13716"/>
          </a:xfrm>
          <a:prstGeom prst="rect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2331720"/>
            <a:ext cx="2542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shown to editors. Automatic re-translation triggered. Team alerted on repeated failures.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5661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BY CONTENT TYPE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858768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39319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Content 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Auto-Publish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Review Gate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Legal / T&amp;C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&gt;99%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268"/>
                          </a:solidFill>
                        </a:rPr>
                        <a:t>&gt;92%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268"/>
                          </a:solidFill>
                        </a:rPr>
                        <a:t>Legal risk demands near-perfect accuracy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520A"/>
                          </a:solidFill>
                        </a:rPr>
                        <a:t>Hero Banner / Campaign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520A"/>
                          </a:solidFill>
                        </a:rPr>
                        <a:t>&gt;97%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268"/>
                          </a:solidFill>
                        </a:rPr>
                        <a:t>&gt;88%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268"/>
                          </a:solidFill>
                        </a:rPr>
                        <a:t>Brand-critical — any tone misfire is visible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967A"/>
                          </a:solidFill>
                        </a:rPr>
                        <a:t>Product Title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967A"/>
                          </a:solidFill>
                        </a:rPr>
                        <a:t>&gt;95%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268"/>
                          </a:solidFill>
                        </a:rPr>
                        <a:t>&gt;82%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268"/>
                          </a:solidFill>
                        </a:rPr>
                        <a:t>Default threshold for product catalog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B3FA0"/>
                          </a:solidFill>
                        </a:rPr>
                        <a:t>SEO Meta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B3FA0"/>
                          </a:solidFill>
                        </a:rPr>
                        <a:t>&gt;93%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268"/>
                          </a:solidFill>
                        </a:rPr>
                        <a:t>&gt;80%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268"/>
                          </a:solidFill>
                        </a:rPr>
                        <a:t>SEO keywords must survive translation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</a:rPr>
                        <a:t>UI Label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</a:rPr>
                        <a:t>&gt;88%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268"/>
                          </a:solidFill>
                        </a:rPr>
                        <a:t>&gt;75%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268"/>
                          </a:solidFill>
                        </a:rPr>
                        <a:t>High volume — speed more critical than perfect nuance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12 WEEKS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1168" y="749808"/>
            <a:ext cx="208483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7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749808"/>
            <a:ext cx="2084832" cy="73152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896112"/>
            <a:ext cx="676656" cy="676656"/>
          </a:xfrm>
          <a:prstGeom prst="ellipse">
            <a:avLst/>
          </a:prstGeom>
          <a:solidFill>
            <a:srgbClr val="00967A">
              <a:alpha val="12000"/>
            </a:srgbClr>
          </a:solidFill>
          <a:ln w="12700">
            <a:solidFill>
              <a:srgbClr val="00967A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89611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" y="19751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" y="2286000"/>
            <a:ext cx="1810512" cy="13716"/>
          </a:xfrm>
          <a:prstGeom prst="rect">
            <a:avLst/>
          </a:prstGeom>
          <a:solidFill>
            <a:srgbClr val="00967A">
              <a:alpha val="30000"/>
            </a:srgbClr>
          </a:solidFill>
          <a:ln w="12700">
            <a:solidFill>
              <a:srgbClr val="00967A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" y="2468880"/>
            <a:ext cx="164592" cy="164592"/>
          </a:xfrm>
          <a:prstGeom prst="ellipse">
            <a:avLst/>
          </a:prstGeom>
          <a:solidFill>
            <a:srgbClr val="00967A">
              <a:alpha val="22000"/>
            </a:srgbClr>
          </a:solidFill>
          <a:ln w="12700">
            <a:solidFill>
              <a:srgbClr val="00967A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377440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DeepL API with glossary_id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" y="2999232"/>
            <a:ext cx="164592" cy="164592"/>
          </a:xfrm>
          <a:prstGeom prst="ellipse">
            <a:avLst/>
          </a:prstGeom>
          <a:solidFill>
            <a:srgbClr val="00967A">
              <a:alpha val="22000"/>
            </a:srgbClr>
          </a:solidFill>
          <a:ln w="12700">
            <a:solidFill>
              <a:srgbClr val="00967A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907792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Redis Translation Memory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" y="3529584"/>
            <a:ext cx="164592" cy="164592"/>
          </a:xfrm>
          <a:prstGeom prst="ellipse">
            <a:avLst/>
          </a:prstGeom>
          <a:solidFill>
            <a:srgbClr val="00967A">
              <a:alpha val="22000"/>
            </a:srgbClr>
          </a:solidFill>
          <a:ln w="12700">
            <a:solidFill>
              <a:srgbClr val="00967A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438144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service (placeholder protection)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" y="4059936"/>
            <a:ext cx="164592" cy="164592"/>
          </a:xfrm>
          <a:prstGeom prst="ellipse">
            <a:avLst/>
          </a:prstGeom>
          <a:solidFill>
            <a:srgbClr val="00967A">
              <a:alpha val="22000"/>
            </a:srgbClr>
          </a:solidFill>
          <a:ln w="12700">
            <a:solidFill>
              <a:srgbClr val="00967A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968496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CMS webhook → pipeline trigger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0" y="2761488"/>
            <a:ext cx="128016" cy="0"/>
          </a:xfrm>
          <a:prstGeom prst="line">
            <a:avLst/>
          </a:prstGeom>
          <a:noFill/>
          <a:ln w="19050">
            <a:solidFill>
              <a:srgbClr val="D8DD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14016" y="749808"/>
            <a:ext cx="208483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E8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14016" y="749808"/>
            <a:ext cx="2084832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18104" y="896112"/>
            <a:ext cx="676656" cy="676656"/>
          </a:xfrm>
          <a:prstGeom prst="ellipse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1A73E8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18104" y="89611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05456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05456" y="19751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51176" y="2286000"/>
            <a:ext cx="1810512" cy="13716"/>
          </a:xfrm>
          <a:prstGeom prst="rect">
            <a:avLst/>
          </a:prstGeom>
          <a:solidFill>
            <a:srgbClr val="1A73E8">
              <a:alpha val="30000"/>
            </a:srgbClr>
          </a:solidFill>
          <a:ln w="12700">
            <a:solidFill>
              <a:srgbClr val="1A73E8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42032" y="2468880"/>
            <a:ext cx="164592" cy="164592"/>
          </a:xfrm>
          <a:prstGeom prst="ellipse">
            <a:avLst/>
          </a:prstGeom>
          <a:solidFill>
            <a:srgbClr val="1A73E8">
              <a:alpha val="22000"/>
            </a:srgbClr>
          </a:solidFill>
          <a:ln w="12700">
            <a:solidFill>
              <a:srgbClr val="1A73E8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2377440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Google Translate for long-tail langs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42032" y="2999232"/>
            <a:ext cx="164592" cy="164592"/>
          </a:xfrm>
          <a:prstGeom prst="ellipse">
            <a:avLst/>
          </a:prstGeom>
          <a:solidFill>
            <a:srgbClr val="1A73E8">
              <a:alpha val="22000"/>
            </a:srgbClr>
          </a:solidFill>
          <a:ln w="12700">
            <a:solidFill>
              <a:srgbClr val="1A73E8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2907792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Smart Router (content + language rules)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42032" y="3529584"/>
            <a:ext cx="164592" cy="164592"/>
          </a:xfrm>
          <a:prstGeom prst="ellipse">
            <a:avLst/>
          </a:prstGeom>
          <a:solidFill>
            <a:srgbClr val="1A73E8">
              <a:alpha val="22000"/>
            </a:srgbClr>
          </a:solidFill>
          <a:ln w="12700">
            <a:solidFill>
              <a:srgbClr val="1A73E8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3438144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Post-Processing + restore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42032" y="4059936"/>
            <a:ext cx="164592" cy="164592"/>
          </a:xfrm>
          <a:prstGeom prst="ellipse">
            <a:avLst/>
          </a:prstGeom>
          <a:solidFill>
            <a:srgbClr val="1A73E8">
              <a:alpha val="22000"/>
            </a:srgbClr>
          </a:solidFill>
          <a:ln w="12700">
            <a:solidFill>
              <a:srgbClr val="1A73E8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3968496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Confidence Gate with BLEU scoring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98848" y="2761488"/>
            <a:ext cx="128016" cy="0"/>
          </a:xfrm>
          <a:prstGeom prst="line">
            <a:avLst/>
          </a:prstGeom>
          <a:noFill/>
          <a:ln w="19050">
            <a:solidFill>
              <a:srgbClr val="D8DD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26864" y="749808"/>
            <a:ext cx="208483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520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26864" y="749808"/>
            <a:ext cx="2084832" cy="73152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30952" y="896112"/>
            <a:ext cx="676656" cy="676656"/>
          </a:xfrm>
          <a:prstGeom prst="ellipse">
            <a:avLst/>
          </a:prstGeom>
          <a:solidFill>
            <a:srgbClr val="D4520A">
              <a:alpha val="12000"/>
            </a:srgbClr>
          </a:solidFill>
          <a:ln w="12700">
            <a:solidFill>
              <a:srgbClr val="D4520A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30952" y="89611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18304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Layer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18304" y="19751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7–9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64024" y="2286000"/>
            <a:ext cx="1810512" cy="13716"/>
          </a:xfrm>
          <a:prstGeom prst="rect">
            <a:avLst/>
          </a:prstGeom>
          <a:solidFill>
            <a:srgbClr val="D4520A">
              <a:alpha val="30000"/>
            </a:srgbClr>
          </a:solidFill>
          <a:ln w="12700">
            <a:solidFill>
              <a:srgbClr val="D4520A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2468880"/>
            <a:ext cx="164592" cy="164592"/>
          </a:xfrm>
          <a:prstGeom prst="ellipse">
            <a:avLst/>
          </a:prstGeom>
          <a:solidFill>
            <a:srgbClr val="D4520A">
              <a:alpha val="22000"/>
            </a:srgbClr>
          </a:solidFill>
          <a:ln w="12700">
            <a:solidFill>
              <a:srgbClr val="D4520A">
                <a:alpha val="4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2377440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Claude API for brand copy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2999232"/>
            <a:ext cx="164592" cy="164592"/>
          </a:xfrm>
          <a:prstGeom prst="ellipse">
            <a:avLst/>
          </a:prstGeom>
          <a:solidFill>
            <a:srgbClr val="D4520A">
              <a:alpha val="22000"/>
            </a:srgbClr>
          </a:solidFill>
          <a:ln w="12700">
            <a:solidFill>
              <a:srgbClr val="D4520A">
                <a:alpha val="4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56048" y="2907792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brand voice system prompt templates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54880" y="3529584"/>
            <a:ext cx="164592" cy="164592"/>
          </a:xfrm>
          <a:prstGeom prst="ellipse">
            <a:avLst/>
          </a:prstGeom>
          <a:solidFill>
            <a:srgbClr val="D4520A">
              <a:alpha val="22000"/>
            </a:srgbClr>
          </a:solidFill>
          <a:ln w="12700">
            <a:solidFill>
              <a:srgbClr val="D4520A">
                <a:alpha val="4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56048" y="3438144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few-shot examples per content type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4059936"/>
            <a:ext cx="164592" cy="164592"/>
          </a:xfrm>
          <a:prstGeom prst="ellipse">
            <a:avLst/>
          </a:prstGeom>
          <a:solidFill>
            <a:srgbClr val="D4520A">
              <a:alpha val="22000"/>
            </a:srgbClr>
          </a:solidFill>
          <a:ln w="12700">
            <a:solidFill>
              <a:srgbClr val="D4520A">
                <a:alpha val="4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56048" y="3968496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confidence threshold tuning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711696" y="2761488"/>
            <a:ext cx="128016" cy="0"/>
          </a:xfrm>
          <a:prstGeom prst="line">
            <a:avLst/>
          </a:prstGeom>
          <a:noFill/>
          <a:ln w="19050">
            <a:solidFill>
              <a:srgbClr val="D8DD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39712" y="749808"/>
            <a:ext cx="208483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3FA0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839712" y="749808"/>
            <a:ext cx="2084832" cy="73152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43800" y="896112"/>
            <a:ext cx="676656" cy="676656"/>
          </a:xfrm>
          <a:prstGeom prst="ellipse">
            <a:avLst/>
          </a:prstGeom>
          <a:solidFill>
            <a:srgbClr val="7B3FA0">
              <a:alpha val="12000"/>
            </a:srgbClr>
          </a:solidFill>
          <a:ln w="12700">
            <a:solidFill>
              <a:srgbClr val="7B3FA0">
                <a:alpha val="4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43800" y="89611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31152" y="16276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931152" y="19751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10–12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976872" y="2286000"/>
            <a:ext cx="1810512" cy="13716"/>
          </a:xfrm>
          <a:prstGeom prst="rect">
            <a:avLst/>
          </a:prstGeom>
          <a:solidFill>
            <a:srgbClr val="7B3FA0">
              <a:alpha val="30000"/>
            </a:srgbClr>
          </a:solidFill>
          <a:ln w="12700">
            <a:solidFill>
              <a:srgbClr val="7B3FA0">
                <a:alpha val="3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67728" y="2468880"/>
            <a:ext cx="164592" cy="164592"/>
          </a:xfrm>
          <a:prstGeom prst="ellipse">
            <a:avLst/>
          </a:prstGeom>
          <a:solidFill>
            <a:srgbClr val="7B3FA0">
              <a:alpha val="22000"/>
            </a:srgbClr>
          </a:solidFill>
          <a:ln w="12700">
            <a:solidFill>
              <a:srgbClr val="7B3FA0">
                <a:alpha val="4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68896" y="2377440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fuzzy matching (embeddings)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967728" y="2999232"/>
            <a:ext cx="164592" cy="164592"/>
          </a:xfrm>
          <a:prstGeom prst="ellipse">
            <a:avLst/>
          </a:prstGeom>
          <a:solidFill>
            <a:srgbClr val="7B3FA0">
              <a:alpha val="22000"/>
            </a:srgbClr>
          </a:solidFill>
          <a:ln w="12700">
            <a:solidFill>
              <a:srgbClr val="7B3FA0">
                <a:alpha val="4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68896" y="2907792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hit-rate monitoring + calibration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967728" y="3529584"/>
            <a:ext cx="164592" cy="164592"/>
          </a:xfrm>
          <a:prstGeom prst="ellipse">
            <a:avLst/>
          </a:prstGeom>
          <a:solidFill>
            <a:srgbClr val="7B3FA0">
              <a:alpha val="22000"/>
            </a:srgbClr>
          </a:solidFill>
          <a:ln w="12700">
            <a:solidFill>
              <a:srgbClr val="7B3FA0">
                <a:alpha val="4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68896" y="3438144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 scoring for high-stakes content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967728" y="4059936"/>
            <a:ext cx="164592" cy="164592"/>
          </a:xfrm>
          <a:prstGeom prst="ellipse">
            <a:avLst/>
          </a:prstGeom>
          <a:solidFill>
            <a:srgbClr val="7B3FA0">
              <a:alpha val="22000"/>
            </a:srgbClr>
          </a:solidFill>
          <a:ln w="12700">
            <a:solidFill>
              <a:srgbClr val="7B3FA0">
                <a:alpha val="4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68896" y="3968496"/>
            <a:ext cx="1664208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A5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+ rollback per language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01168" y="4846320"/>
            <a:ext cx="8741664" cy="201168"/>
          </a:xfrm>
          <a:prstGeom prst="rect">
            <a:avLst/>
          </a:prstGeom>
          <a:solidFill>
            <a:srgbClr val="00967A">
              <a:alpha val="8000"/>
            </a:srgbClr>
          </a:solidFill>
          <a:ln w="12700">
            <a:solidFill>
              <a:srgbClr val="00967A">
                <a:alpha val="3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1168" y="4846320"/>
            <a:ext cx="8741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ROI: 40–70% reduction in translation API costs from Translation Memory alone · 12 weeks total engineering investment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560320" cy="256032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3474720"/>
            <a:ext cx="2926080" cy="292608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2011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Translation Strategy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Global CMS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74904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44165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44752" y="374904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44752" y="44165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15184" y="374904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15184" y="44165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Cost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0" y="731520"/>
            <a:ext cx="4937760" cy="5669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0967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731520"/>
            <a:ext cx="54864" cy="566928"/>
          </a:xfrm>
          <a:prstGeom prst="rect">
            <a:avLst/>
          </a:prstGeom>
          <a:solidFill>
            <a:srgbClr val="00967A"/>
          </a:solidFill>
          <a:ln w="12700">
            <a:solidFill>
              <a:srgbClr val="0096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731520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17136" y="73152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DeepL as primary engine — best accuracy for EU and Asia markets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23360" y="1389888"/>
            <a:ext cx="4937760" cy="5669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1A73E8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1389888"/>
            <a:ext cx="54864" cy="56692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33088" y="1389888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17136" y="1389888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Translate as fallback — widest language coverage at lowest cost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23360" y="2048256"/>
            <a:ext cx="4937760" cy="5669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D4520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2048256"/>
            <a:ext cx="54864" cy="566928"/>
          </a:xfrm>
          <a:prstGeom prst="rect">
            <a:avLst/>
          </a:prstGeom>
          <a:solidFill>
            <a:srgbClr val="D4520A"/>
          </a:solidFill>
          <a:ln w="12700">
            <a:solidFill>
              <a:srgbClr val="D452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33088" y="2048256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5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17136" y="2048256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brand-critical copy — native voice, tone control, no hallmarks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023360" y="2706624"/>
            <a:ext cx="4937760" cy="5669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C48500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2706624"/>
            <a:ext cx="54864" cy="566928"/>
          </a:xfrm>
          <a:prstGeom prst="rect">
            <a:avLst/>
          </a:prstGeom>
          <a:solidFill>
            <a:srgbClr val="C48500"/>
          </a:solidFill>
          <a:ln w="12700">
            <a:solidFill>
              <a:srgbClr val="C48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33088" y="2706624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17136" y="270662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Translation Memory from day one — 40–70% cost reduction at scale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023360" y="3364992"/>
            <a:ext cx="4937760" cy="5669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7B3FA0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0" y="3364992"/>
            <a:ext cx="54864" cy="566928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33088" y="3364992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17136" y="3364992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Gate: &gt;95% auto-publish, 80–95% review, &lt;80% blocked + retry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023360" y="4023360"/>
            <a:ext cx="4937760" cy="566928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C0392B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23360" y="4023360"/>
            <a:ext cx="5486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33088" y="4023360"/>
            <a:ext cx="347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17136" y="402336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injection separates machine output from native-quality translation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Translation Strategy — CMS Pipeline</dc:title>
  <dc:subject>PptxGenJS Presentation</dc:subject>
  <dc:creator>PptxGenJS</dc:creator>
  <cp:lastModifiedBy>PptxGenJS</cp:lastModifiedBy>
  <cp:revision>1</cp:revision>
  <dcterms:created xsi:type="dcterms:W3CDTF">2026-03-08T01:45:41Z</dcterms:created>
  <dcterms:modified xsi:type="dcterms:W3CDTF">2026-03-08T01:45:41Z</dcterms:modified>
</cp:coreProperties>
</file>