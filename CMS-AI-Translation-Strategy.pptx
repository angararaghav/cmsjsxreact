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9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endra Angara" userId="6b971708-5412-4b70-9031-36da4ebff12f" providerId="ADAL" clId="{FF26F244-2771-4A64-A430-D1400A5380B4}"/>
    <pc:docChg chg="mod modSld">
      <pc:chgData name="Raghavendra Angara" userId="6b971708-5412-4b70-9031-36da4ebff12f" providerId="ADAL" clId="{FF26F244-2771-4A64-A430-D1400A5380B4}" dt="2026-03-05T19:03:41.199" v="16" actId="1036"/>
      <pc:docMkLst>
        <pc:docMk/>
      </pc:docMkLst>
      <pc:sldChg chg="modSp mod">
        <pc:chgData name="Raghavendra Angara" userId="6b971708-5412-4b70-9031-36da4ebff12f" providerId="ADAL" clId="{FF26F244-2771-4A64-A430-D1400A5380B4}" dt="2026-03-05T19:03:41.199" v="16" actId="1036"/>
        <pc:sldMkLst>
          <pc:docMk/>
          <pc:sldMk cId="0" sldId="257"/>
        </pc:sldMkLst>
        <pc:spChg chg="mod">
          <ac:chgData name="Raghavendra Angara" userId="6b971708-5412-4b70-9031-36da4ebff12f" providerId="ADAL" clId="{FF26F244-2771-4A64-A430-D1400A5380B4}" dt="2026-03-05T19:03:30.319" v="5" actId="103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aghavendra Angara" userId="6b971708-5412-4b70-9031-36da4ebff12f" providerId="ADAL" clId="{FF26F244-2771-4A64-A430-D1400A5380B4}" dt="2026-03-05T19:03:37.620" v="12" actId="103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Raghavendra Angara" userId="6b971708-5412-4b70-9031-36da4ebff12f" providerId="ADAL" clId="{FF26F244-2771-4A64-A430-D1400A5380B4}" dt="2026-03-05T19:03:41.199" v="16" actId="1036"/>
          <ac:spMkLst>
            <pc:docMk/>
            <pc:sldMk cId="0" sldId="257"/>
            <ac:spMk id="2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 ($)</c:v>
                </c:pt>
              </c:strCache>
            </c:strRef>
          </c:tx>
          <c:spPr>
            <a:solidFill>
              <a:srgbClr val="00D4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C6A-464C-BC74-29C669259A74}"/>
              </c:ext>
            </c:extLst>
          </c:dPt>
          <c:dPt>
            <c:idx val="1"/>
            <c:invertIfNegative val="0"/>
            <c:bubble3D val="0"/>
            <c:spPr>
              <a:solidFill>
                <a:srgbClr val="4285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C6A-464C-BC74-29C669259A74}"/>
              </c:ext>
            </c:extLst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C6A-464C-BC74-29C669259A74}"/>
              </c:ext>
            </c:extLst>
          </c:dPt>
          <c:dPt>
            <c:idx val="3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C6A-464C-BC74-29C669259A7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8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DeepL</c:v>
                </c:pt>
                <c:pt idx="1">
                  <c:v>Google</c:v>
                </c:pt>
                <c:pt idx="2">
                  <c:v>Claude</c:v>
                </c:pt>
                <c:pt idx="3">
                  <c:v>Total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</c:v>
                </c:pt>
                <c:pt idx="1">
                  <c:v>40</c:v>
                </c:pt>
                <c:pt idx="2">
                  <c:v>5</c:v>
                </c:pt>
                <c:pt idx="3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C6A-464C-BC74-29C669259A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E0E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83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D4A0">
              <a:alpha val="8000"/>
            </a:srgbClr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2286000" cy="2286000"/>
          </a:xfrm>
          <a:prstGeom prst="ellipse">
            <a:avLst/>
          </a:prstGeom>
          <a:solidFill>
            <a:srgbClr val="4285F4">
              <a:alpha val="8000"/>
            </a:srgbClr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TRANSLATION STRATEGY REPORT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Translation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Selection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Selection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Language Coverage · Cost · Architecture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for AI-powered multilingual storefront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828800" cy="105156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4864" cy="105156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73075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Providers Evaluated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3657600"/>
            <a:ext cx="1828800" cy="105156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51760" y="3657600"/>
            <a:ext cx="54864" cy="105156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0" y="373075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4320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Languages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657600"/>
            <a:ext cx="1828800" cy="105156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3657600"/>
            <a:ext cx="54864" cy="105156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373075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84632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Layers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3657600"/>
            <a:ext cx="1828800" cy="105156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0" y="3657600"/>
            <a:ext cx="54864" cy="105156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0" y="373075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94944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Scoring Metrics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as of early 2025 — verify current rates with providers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COMPARISON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Engine Scorecard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377440" y="9601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/ Native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749040" y="9601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26280" y="9601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303520" y="9601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080760" y="9601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Price/M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086600" y="96012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234440"/>
            <a:ext cx="8412480" cy="621792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234440"/>
            <a:ext cx="54864" cy="621792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325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1188720" cy="155448"/>
          </a:xfrm>
          <a:prstGeom prst="rect">
            <a:avLst/>
          </a:prstGeom>
          <a:solidFill>
            <a:srgbClr val="00D4A0">
              <a:alpha val="20000"/>
            </a:srgbClr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15544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ACCURACY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2423160" y="1362456"/>
            <a:ext cx="100584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23160" y="1405320"/>
            <a:ext cx="985723" cy="6400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23160" y="127101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98%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423160" y="1636776"/>
            <a:ext cx="100584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23160" y="1686784"/>
            <a:ext cx="995782" cy="6400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23160" y="15453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Feel 99%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40480" y="13990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63440" y="1463040"/>
            <a:ext cx="73152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1484472"/>
            <a:ext cx="621792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13441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85%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40680" y="13716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$$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1435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$25/M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178040" y="1435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EU/JA/ZH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1920240"/>
            <a:ext cx="8412480" cy="621792"/>
          </a:xfrm>
          <a:prstGeom prst="rect">
            <a:avLst/>
          </a:prstGeom>
          <a:solidFill>
            <a:srgbClr val="0E0E20"/>
          </a:solidFill>
          <a:ln w="12700">
            <a:solidFill>
              <a:srgbClr val="4285F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1920240"/>
            <a:ext cx="54864" cy="62179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2011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2240280"/>
            <a:ext cx="1188720" cy="155448"/>
          </a:xfrm>
          <a:prstGeom prst="rect">
            <a:avLst/>
          </a:prstGeom>
          <a:solidFill>
            <a:srgbClr val="4285F4">
              <a:alpha val="20000"/>
            </a:srgbClr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22402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LANGUAGES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423160" y="2048256"/>
            <a:ext cx="100584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423160" y="2048256"/>
            <a:ext cx="915314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423160" y="195681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91%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423160" y="2322576"/>
            <a:ext cx="100584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423160" y="2322576"/>
            <a:ext cx="854964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423160" y="22311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Feel 85%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840480" y="20848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663440" y="2148840"/>
            <a:ext cx="73152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2148840"/>
            <a:ext cx="724205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63440" y="20299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99%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40680" y="20574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17920" y="21214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$20/M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78040" y="21214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2606040"/>
            <a:ext cx="8412480" cy="621792"/>
          </a:xfrm>
          <a:prstGeom prst="rect">
            <a:avLst/>
          </a:prstGeom>
          <a:solidFill>
            <a:srgbClr val="0E0E2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65760" y="2606040"/>
            <a:ext cx="54864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2920" y="2697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" y="2926080"/>
            <a:ext cx="1188720" cy="155448"/>
          </a:xfrm>
          <a:prstGeom prst="rect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2920" y="29260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CONTEXT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2423160" y="2734056"/>
            <a:ext cx="100584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423160" y="2734056"/>
            <a:ext cx="965606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423160" y="264261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96%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423160" y="3008376"/>
            <a:ext cx="100584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423160" y="3008376"/>
            <a:ext cx="975665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423160" y="29169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Feel 97%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840480" y="27706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4663440" y="2834640"/>
            <a:ext cx="73152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663440" y="2834640"/>
            <a:ext cx="512064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663440" y="27157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440680" y="27432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$$$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217920" y="2807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$3/M tok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178040" y="2807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65760" y="3291840"/>
            <a:ext cx="8412480" cy="621792"/>
          </a:xfrm>
          <a:prstGeom prst="rect">
            <a:avLst/>
          </a:prstGeom>
          <a:solidFill>
            <a:srgbClr val="0E0E20"/>
          </a:solidFill>
          <a:ln w="12700">
            <a:solidFill>
              <a:srgbClr val="0078D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65760" y="3291840"/>
            <a:ext cx="54864" cy="6217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02920" y="3383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Translator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02920" y="3611880"/>
            <a:ext cx="1188720" cy="155448"/>
          </a:xfrm>
          <a:prstGeom prst="rect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02920" y="36118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FREE TIER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2423160" y="3419856"/>
            <a:ext cx="100584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423160" y="3419856"/>
            <a:ext cx="905256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423160" y="332841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90%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423160" y="3694176"/>
            <a:ext cx="100584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423160" y="3694176"/>
            <a:ext cx="834847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423160" y="36027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Feel 83%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3840480" y="3456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4663440" y="3520440"/>
            <a:ext cx="73152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663440" y="3520440"/>
            <a:ext cx="672998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663440" y="34015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92%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440680" y="34290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$$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6217920" y="3493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$10/M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7178040" y="3493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teams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65760" y="3977640"/>
            <a:ext cx="8412480" cy="621792"/>
          </a:xfrm>
          <a:prstGeom prst="rect">
            <a:avLst/>
          </a:prstGeom>
          <a:solidFill>
            <a:srgbClr val="0E0E20"/>
          </a:solidFill>
          <a:ln w="12700">
            <a:solidFill>
              <a:srgbClr val="6666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365760" y="3977640"/>
            <a:ext cx="54864" cy="621792"/>
          </a:xfrm>
          <a:prstGeom prst="rect">
            <a:avLst/>
          </a:prstGeom>
          <a:solidFill>
            <a:srgbClr val="666688"/>
          </a:solidFill>
          <a:ln w="12700">
            <a:solidFill>
              <a:srgbClr val="666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0292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423160" y="4105656"/>
            <a:ext cx="100584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423160" y="4105656"/>
            <a:ext cx="945490" cy="64008"/>
          </a:xfrm>
          <a:prstGeom prst="rect">
            <a:avLst/>
          </a:prstGeom>
          <a:solidFill>
            <a:srgbClr val="666688"/>
          </a:solidFill>
          <a:ln w="12700">
            <a:solidFill>
              <a:srgbClr val="666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423160" y="401421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94%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2423160" y="4379976"/>
            <a:ext cx="100584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423160" y="4379976"/>
            <a:ext cx="935431" cy="64008"/>
          </a:xfrm>
          <a:prstGeom prst="rect">
            <a:avLst/>
          </a:prstGeom>
          <a:solidFill>
            <a:srgbClr val="666688"/>
          </a:solidFill>
          <a:ln w="12700">
            <a:solidFill>
              <a:srgbClr val="666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423160" y="42885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Feel 93%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3840480" y="41422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800" dirty="0"/>
          </a:p>
        </p:txBody>
      </p:sp>
      <p:sp>
        <p:nvSpPr>
          <p:cNvPr id="93" name="Shape 91"/>
          <p:cNvSpPr/>
          <p:nvPr/>
        </p:nvSpPr>
        <p:spPr>
          <a:xfrm>
            <a:off x="4663440" y="4206240"/>
            <a:ext cx="73152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4663440" y="4206240"/>
            <a:ext cx="497434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663440" y="40873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68%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5440680" y="41148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$$$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6217920" y="4178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$5/M tok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178040" y="4178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RECOMMENDATION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+ Google + 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DeepL for major market languages where native quality matters most. Fall back to Google for long-tail coverage. Route brand-critical campaign copy through Claude for nuanced output.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697480" cy="137160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54864" cy="137160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ENGINE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languages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 content, descriptions, UI — EU + JA + ZH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965960"/>
            <a:ext cx="2697480" cy="1371600"/>
          </a:xfrm>
          <a:prstGeom prst="rect">
            <a:avLst/>
          </a:prstGeom>
          <a:solidFill>
            <a:srgbClr val="0E0E20"/>
          </a:solidFill>
          <a:ln w="12700">
            <a:solidFill>
              <a:srgbClr val="4285F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1965960"/>
            <a:ext cx="54864" cy="13716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 ENGINE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83280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542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133 languages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outside DeepL coverage — long-tail markets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965960"/>
            <a:ext cx="2697480" cy="1371600"/>
          </a:xfrm>
          <a:prstGeom prst="rect">
            <a:avLst/>
          </a:prstGeom>
          <a:solidFill>
            <a:srgbClr val="0E0E2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965960"/>
            <a:ext cx="54864" cy="1371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 LAYER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263640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542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 languages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banners, campaign copy, brand voice alignment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4930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ROUTING MATRIX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3721608"/>
            <a:ext cx="4069080" cy="274320"/>
          </a:xfrm>
          <a:prstGeom prst="rect">
            <a:avLst/>
          </a:prstGeom>
          <a:solidFill>
            <a:srgbClr val="0E0E2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758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titles &amp; descriptions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3758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4069080" cy="274320"/>
          </a:xfrm>
          <a:prstGeom prst="rect">
            <a:avLst/>
          </a:prstGeom>
          <a:solidFill>
            <a:srgbClr val="0E0E2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105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labels, buttons, navigation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41056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416552"/>
            <a:ext cx="4069080" cy="274320"/>
          </a:xfrm>
          <a:prstGeom prst="rect">
            <a:avLst/>
          </a:prstGeom>
          <a:solidFill>
            <a:srgbClr val="0E0E2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453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headlines / hero text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0" y="4453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721608"/>
            <a:ext cx="4069080" cy="274320"/>
          </a:xfrm>
          <a:prstGeom prst="rect">
            <a:avLst/>
          </a:prstGeom>
          <a:solidFill>
            <a:srgbClr val="0E0E2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3758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T&amp;C text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52360" y="3758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DeepL + Human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4069080"/>
            <a:ext cx="4069080" cy="274320"/>
          </a:xfrm>
          <a:prstGeom prst="rect">
            <a:avLst/>
          </a:prstGeom>
          <a:solidFill>
            <a:srgbClr val="0E0E2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9160" y="4105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meta descriptions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52360" y="41056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DeepL + Claude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4416552"/>
            <a:ext cx="4069080" cy="274320"/>
          </a:xfrm>
          <a:prstGeom prst="rect">
            <a:avLst/>
          </a:prstGeom>
          <a:solidFill>
            <a:srgbClr val="0E0E2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09160" y="4453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/ long-tail languages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52360" y="4453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ANALYSIS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Estimate — Mid-Size Store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137160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" cy="137160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DeepL API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~5M chars/mo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048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 content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42032" y="1005840"/>
            <a:ext cx="2011680" cy="1371600"/>
          </a:xfrm>
          <a:prstGeom prst="rect">
            <a:avLst/>
          </a:prstGeom>
          <a:solidFill>
            <a:srgbClr val="0E0E20"/>
          </a:solidFill>
          <a:ln w="12700">
            <a:solidFill>
              <a:srgbClr val="4285F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42032" y="1005840"/>
            <a:ext cx="54864" cy="13716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79192" y="1115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Translate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79192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79192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~2M chars/mo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79192" y="2048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languages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18304" y="1005840"/>
            <a:ext cx="2011680" cy="1371600"/>
          </a:xfrm>
          <a:prstGeom prst="rect">
            <a:avLst/>
          </a:prstGeom>
          <a:solidFill>
            <a:srgbClr val="0E0E2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18304" y="1005840"/>
            <a:ext cx="54864" cy="1371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55464" y="1115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API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55464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$1.50–$7.50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55464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~500K tokens/mo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55464" y="2048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copy only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94576" y="1005840"/>
            <a:ext cx="2011680" cy="1371600"/>
          </a:xfrm>
          <a:prstGeom prst="rect">
            <a:avLst/>
          </a:prstGeom>
          <a:solidFill>
            <a:srgbClr val="0E0E20"/>
          </a:solidFill>
          <a:ln w="12700">
            <a:solidFill>
              <a:srgbClr val="9B59B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94576" y="1005840"/>
            <a:ext cx="54864" cy="13716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31736" y="1115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(Hybrid)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31736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~$170–$200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31736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engines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31736" y="2048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mid-scale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2542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 by Engine</a:t>
            </a:r>
            <a:endParaRPr lang="en-US" sz="12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365760" y="283464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Shape 27"/>
          <p:cNvSpPr/>
          <p:nvPr/>
        </p:nvSpPr>
        <p:spPr>
          <a:xfrm>
            <a:off x="4754880" y="2542032"/>
            <a:ext cx="4023360" cy="2304288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754880" y="2542032"/>
            <a:ext cx="54864" cy="230428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92040" y="2651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TRANSLATION MEMORY SAVINGS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92040" y="2834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reduces API spend by 40–70%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92040" y="3154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re-import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818120" y="3154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~90%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892040" y="3383280"/>
            <a:ext cx="292608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892040" y="3538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string releases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818120" y="35387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~80%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892040" y="3767328"/>
            <a:ext cx="292608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892040" y="39227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copy refresh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818120" y="39227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~60%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892040" y="4151376"/>
            <a:ext cx="292608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92040" y="4306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added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818120" y="43068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~30%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892040" y="4535424"/>
            <a:ext cx="292608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Translation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749040" cy="749808"/>
          </a:xfrm>
          <a:prstGeom prst="rect">
            <a:avLst/>
          </a:prstGeom>
          <a:solidFill>
            <a:srgbClr val="0E0E2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332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Content 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07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source · field-level triggers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40280" y="1709928"/>
            <a:ext cx="0" cy="210312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3749040" cy="749808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54864" cy="7498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993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267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· protect tags · glossary lookup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40280" y="2670048"/>
            <a:ext cx="0" cy="210312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3749040" cy="749808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54864" cy="74980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953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2953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Cache Check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227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lookup · 100% hit = $0 API call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40280" y="3630168"/>
            <a:ext cx="0" cy="210312"/>
          </a:xfrm>
          <a:prstGeom prst="line">
            <a:avLst/>
          </a:prstGeom>
          <a:noFill/>
          <a:ln w="1905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3749040" cy="749808"/>
          </a:xfrm>
          <a:prstGeom prst="rect">
            <a:avLst/>
          </a:prstGeom>
          <a:solidFill>
            <a:srgbClr val="0E0E20"/>
          </a:solidFill>
          <a:ln w="12700">
            <a:solidFill>
              <a:srgbClr val="E8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54864" cy="749808"/>
          </a:xfrm>
          <a:prstGeom prst="rect">
            <a:avLst/>
          </a:prstGeom>
          <a:solidFill>
            <a:srgbClr val="E8E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913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187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 · target language · cost budget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92040" y="960120"/>
            <a:ext cx="3886200" cy="749808"/>
          </a:xfrm>
          <a:prstGeom prst="rect">
            <a:avLst/>
          </a:prstGeom>
          <a:solidFill>
            <a:srgbClr val="0E0E20"/>
          </a:solidFill>
          <a:ln w="12700">
            <a:solidFill>
              <a:srgbClr val="4285F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92040" y="960120"/>
            <a:ext cx="54864" cy="7498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10332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40680" y="1033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Engines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0680" y="1307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· Google · Claude (hybrid routing)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39712" y="1709928"/>
            <a:ext cx="0" cy="210312"/>
          </a:xfrm>
          <a:prstGeom prst="line">
            <a:avLst/>
          </a:prstGeom>
          <a:noFill/>
          <a:ln w="1905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92040" y="1920240"/>
            <a:ext cx="3886200" cy="749808"/>
          </a:xfrm>
          <a:prstGeom prst="rect">
            <a:avLst/>
          </a:prstGeom>
          <a:solidFill>
            <a:srgbClr val="0E0E20"/>
          </a:solidFill>
          <a:ln w="12700">
            <a:solidFill>
              <a:srgbClr val="9B59B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92040" y="1920240"/>
            <a:ext cx="54864" cy="7498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1993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40680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40680" y="2267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tags · quality score · store to TM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39712" y="2670048"/>
            <a:ext cx="0" cy="210312"/>
          </a:xfrm>
          <a:prstGeom prst="line">
            <a:avLst/>
          </a:prstGeom>
          <a:noFill/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92040" y="2880360"/>
            <a:ext cx="3886200" cy="749808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92040" y="2880360"/>
            <a:ext cx="54864" cy="7498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0" y="2953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40680" y="29535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40680" y="3227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auto-publish · 80-95% review · &lt;80% block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114800" y="2350008"/>
            <a:ext cx="777240" cy="0"/>
          </a:xfrm>
          <a:prstGeom prst="line">
            <a:avLst/>
          </a:prstGeom>
          <a:noFill/>
          <a:ln w="1905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096512" y="217627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to →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914400" y="4480560"/>
            <a:ext cx="2286000" cy="54864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14400" y="4480560"/>
            <a:ext cx="54864" cy="54864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24128" y="455371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Publish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24128" y="477316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CDN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520440" y="4480560"/>
            <a:ext cx="2286000" cy="548640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520440" y="4480560"/>
            <a:ext cx="54864" cy="5486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30168" y="455371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630168" y="477316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queue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26480" y="4480560"/>
            <a:ext cx="2286000" cy="548640"/>
          </a:xfrm>
          <a:prstGeom prst="rect">
            <a:avLst/>
          </a:prstGeom>
          <a:solidFill>
            <a:srgbClr val="0E0E20"/>
          </a:solidFill>
          <a:ln w="12700">
            <a:solidFill>
              <a:srgbClr val="E74C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126480" y="4480560"/>
            <a:ext cx="54864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36208" y="455371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236208" y="477316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rework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INJECTION — BEFORE EVERY API CALL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Native-Quality Output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to a translation API = generic output. Injecting structured context = native quality.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114800" cy="251460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54864" cy="251460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DEEPL API — REQUEST PARAMETERS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glossary_id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19072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brand terms + do-not-translate list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947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formality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19072" y="19476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prefer_more / prefer_less per target market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3865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19072" y="23865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Surrounding paragraph for word disambiguation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8254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tag_handling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19072" y="28254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html/xml — protects {placeholders} and HTML tags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32644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split_sentences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19072" y="32644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nonewlines for UI, 1 for long-form content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1207008"/>
            <a:ext cx="4114800" cy="2514600"/>
          </a:xfrm>
          <a:prstGeom prst="rect">
            <a:avLst/>
          </a:prstGeom>
          <a:solidFill>
            <a:srgbClr val="0E0E2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207008"/>
            <a:ext cx="54864" cy="2514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316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API — SYSTEM PROMPT ASSEMBLY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800600" y="1508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brand_voice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16752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confident — never uses exclamation marks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00600" y="1947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content_type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16752" y="19476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title / hero banner / legal notice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23865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glossary_block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16752" y="23865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TRANSLATE: AirMax Pro, FreeReturn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0600" y="28254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target_audience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16752" y="28254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German-speaking Swiss, Swiss German conventions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32644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16752" y="32644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approved translations as few-shot anchors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3822192"/>
            <a:ext cx="8412480" cy="1115568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3822192"/>
            <a:ext cx="54864" cy="111556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9319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— CLAUDE SYSTEM PROMPT FOR PRODUCT TITLE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02920" y="41330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</a:t>
            </a:r>
            <a:r>
              <a:rPr lang="en-US" sz="850" dirty="0">
                <a:solidFill>
                  <a:srgbClr val="CCC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professional e-commerce translator for [BrandName]. Brand voice: Premium, confident. Target: German (formal Sie). Content: Product title.</a:t>
            </a:r>
            <a:r>
              <a:rPr lang="en-US" sz="85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 NOT TRANSLATE: </a:t>
            </a:r>
            <a:r>
              <a:rPr lang="en-US" sz="8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AirMax Pro, FreeReturn.  </a:t>
            </a:r>
            <a:r>
              <a:rPr lang="en-US" sz="85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ONLY the translated text.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TRANSLATION MEMORY — COST REDUCTION LAYER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 Mechanisms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100584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" cy="100584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Match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2161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from TM instantly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segment. Zero API call.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697480" cy="1005840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54864" cy="10058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0241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Fuzzy (75–99%)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383280" y="12161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cost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83280" y="1554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base + flag for review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83280" y="171907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Re-translate changed delta only.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697480" cy="1005840"/>
          </a:xfrm>
          <a:prstGeom prst="rect">
            <a:avLst/>
          </a:prstGeom>
          <a:solidFill>
            <a:srgbClr val="0E0E20"/>
          </a:solidFill>
          <a:ln w="12700">
            <a:solidFill>
              <a:srgbClr val="E74C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54864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10241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Match (&lt;75%)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263640" y="12161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cost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63640" y="1554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translation API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63640" y="171907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result in TM for future.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2084832"/>
            <a:ext cx="2697480" cy="192024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084832"/>
            <a:ext cx="54864" cy="192024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2194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FASTEST — ALL SEGMENTS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2920" y="23774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Similarity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edit distance on tokenised strings. Library: rapidfuzz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" y="3136392"/>
            <a:ext cx="2468880" cy="274320"/>
          </a:xfrm>
          <a:prstGeom prst="rect">
            <a:avLst/>
          </a:prstGeom>
          <a:solidFill>
            <a:srgbClr val="12122A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" y="316382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tokens / max tokens × 100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2920" y="34564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check on every lookup. Microseconds.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46120" y="2084832"/>
            <a:ext cx="2697480" cy="1920240"/>
          </a:xfrm>
          <a:prstGeom prst="rect">
            <a:avLst/>
          </a:prstGeom>
          <a:solidFill>
            <a:srgbClr val="0E0E2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46120" y="2084832"/>
            <a:ext cx="54864" cy="1920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83280" y="2194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— PRODUCT CONTENT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83280" y="23774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cosine similarity via sentence-transformers. Catches synonyms token method misses.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383280" y="3136392"/>
            <a:ext cx="2468880" cy="274320"/>
          </a:xfrm>
          <a:prstGeom prst="rect">
            <a:avLst/>
          </a:prstGeom>
          <a:solidFill>
            <a:srgbClr val="12122A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10712" y="316382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cosine_similarity(embed(A), embed(B)) × 100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83280" y="34564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check when token score is 50–74%.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26480" y="2084832"/>
            <a:ext cx="2697480" cy="1920240"/>
          </a:xfrm>
          <a:prstGeom prst="rect">
            <a:avLst/>
          </a:prstGeom>
          <a:solidFill>
            <a:srgbClr val="0E0E20"/>
          </a:solidFill>
          <a:ln w="12700">
            <a:solidFill>
              <a:srgbClr val="4285F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26480" y="2084832"/>
            <a:ext cx="54864" cy="192024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63640" y="2194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DESCRIPTIONS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63640" y="23774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TF-IDF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6364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weighted n-gram overlap. scikit-learn or Elasticsearch more_like_this.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63640" y="3136392"/>
            <a:ext cx="2468880" cy="274320"/>
          </a:xfrm>
          <a:prstGeom prst="rect">
            <a:avLst/>
          </a:prstGeom>
          <a:solidFill>
            <a:srgbClr val="12122A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91072" y="316382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 cosine similarity of n-gram vectors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63640" y="34564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over 80 chars. Handles partial phrase reuse.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" y="4114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PIPELINE — COMBINE ALL THREE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65760" y="4297680"/>
            <a:ext cx="2011680" cy="640080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437083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Token Similarity on every lookup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77440" y="4617720"/>
            <a:ext cx="164592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542032" y="4297680"/>
            <a:ext cx="2011680" cy="640080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633472" y="437083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Embedding check if token score 50–74%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53712" y="4617720"/>
            <a:ext cx="164592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718304" y="4297680"/>
            <a:ext cx="2011680" cy="640080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09744" y="437083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N-gram for strings 80+ chars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729984" y="4617720"/>
            <a:ext cx="164592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894576" y="4297680"/>
            <a:ext cx="2011680" cy="640080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986016" y="437083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Composite decision → match tier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GATE — QUALITY SCORING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 vs BLEURT vs BLEU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do not return quality scores — developers must build the scoring layer using these open-source libraries.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274320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4864" cy="274320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Neural (XLM-RoBERTa)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788920" y="20299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371600" y="2066544"/>
            <a:ext cx="137160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0" y="2066544"/>
            <a:ext cx="1316736" cy="6400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3225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88920" y="23225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371600" y="2359152"/>
            <a:ext cx="137160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71600" y="2359152"/>
            <a:ext cx="61722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61518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 Maint.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88920" y="26151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371600" y="2651760"/>
            <a:ext cx="137160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71600" y="2651760"/>
            <a:ext cx="822960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90779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Eff.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788920" y="290779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371600" y="2944368"/>
            <a:ext cx="137160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2944368"/>
            <a:ext cx="754380" cy="6400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21868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hypothesis + optional reference through pretrained cross-lingual model. Highest human correlation.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02920" y="3639312"/>
            <a:ext cx="2468880" cy="182880"/>
          </a:xfrm>
          <a:prstGeom prst="rect">
            <a:avLst/>
          </a:prstGeom>
          <a:solidFill>
            <a:srgbClr val="12122A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" y="364845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unbabel-comet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46120" y="1188720"/>
            <a:ext cx="2697480" cy="2743200"/>
          </a:xfrm>
          <a:prstGeom prst="rect">
            <a:avLst/>
          </a:prstGeom>
          <a:solidFill>
            <a:srgbClr val="0E0E20"/>
          </a:solidFill>
          <a:ln w="12700">
            <a:solidFill>
              <a:srgbClr val="4285F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46120" y="1188720"/>
            <a:ext cx="54864" cy="27432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83280" y="12984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ALTERNATIVE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38328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BLEURT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383280" y="17830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Neural (BERT fine-tuned)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383280" y="202996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669280" y="20299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251960" y="2066544"/>
            <a:ext cx="137160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251960" y="2066544"/>
            <a:ext cx="1207008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83280" y="23225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23225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251960" y="2359152"/>
            <a:ext cx="137160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251960" y="2359152"/>
            <a:ext cx="68580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83280" y="261518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 Maint.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669280" y="26151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251960" y="2651760"/>
            <a:ext cx="137160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251960" y="2651760"/>
            <a:ext cx="795528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83280" y="290779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Eff.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669280" y="290779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251960" y="2944368"/>
            <a:ext cx="137160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251960" y="2944368"/>
            <a:ext cx="822960" cy="6400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383280" y="321868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 on WMT human ratings. Reference-free mode available. TensorFlow dependency.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383280" y="3639312"/>
            <a:ext cx="2468880" cy="182880"/>
          </a:xfrm>
          <a:prstGeom prst="rect">
            <a:avLst/>
          </a:prstGeom>
          <a:solidFill>
            <a:srgbClr val="12122A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410712" y="364845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 google-research/bleurt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126480" y="1188720"/>
            <a:ext cx="2697480" cy="2743200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26480" y="1188720"/>
            <a:ext cx="54864" cy="27432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63640" y="12984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/ CHEAP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26364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263640" y="17830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Statistical (n-gram overlap)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263640" y="202996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549640" y="20299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132320" y="2066544"/>
            <a:ext cx="137160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132320" y="2066544"/>
            <a:ext cx="713232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263640" y="23225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549640" y="23225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132320" y="2359152"/>
            <a:ext cx="137160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132320" y="2359152"/>
            <a:ext cx="1344168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263640" y="261518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 Maint.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8549640" y="26151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7132320" y="2651760"/>
            <a:ext cx="137160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132320" y="2651760"/>
            <a:ext cx="1303020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263640" y="290779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Eff.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8549640" y="290779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132320" y="2944368"/>
            <a:ext cx="137160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132320" y="2944368"/>
            <a:ext cx="1344168" cy="6400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263640" y="321868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overlap between hypothesis and reference. No ML, deterministic, microsecond speed.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263640" y="3639312"/>
            <a:ext cx="2468880" cy="182880"/>
          </a:xfrm>
          <a:prstGeom prst="rect">
            <a:avLst/>
          </a:prstGeom>
          <a:solidFill>
            <a:srgbClr val="12122A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291072" y="364845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sacrebleu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65760" y="4041648"/>
            <a:ext cx="8412480" cy="914400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365760" y="4041648"/>
            <a:ext cx="54864" cy="9144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02920" y="41513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SCORING FORMULA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02920" y="43159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= (COMET × 0.55)</a:t>
            </a:r>
            <a:r>
              <a:rPr lang="en-US" sz="95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(BLEU × 0.15)</a:t>
            </a:r>
            <a:r>
              <a:rPr lang="en-US" sz="95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(rule_checks × 0.30)</a:t>
            </a:r>
            <a:r>
              <a:rPr lang="en-US" sz="950" dirty="0">
                <a:solidFill>
                  <a:srgbClr val="CCC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 &gt;0.95 auto-publish  |  &gt;0.80 review  |  &lt;0.80 block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ROADMAP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Phases — Start Simple, Add Sophistication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3108960"/>
          </a:xfrm>
          <a:prstGeom prst="rect">
            <a:avLst/>
          </a:prstGeom>
          <a:solidFill>
            <a:srgbClr val="0E0E20"/>
          </a:solidFill>
          <a:ln w="12700">
            <a:solidFill>
              <a:srgbClr val="4285F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3108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698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 —  Day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Checks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placeholders intact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terms not translated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4323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ratio 0.4x–3x source length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source-language chars in output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3182112"/>
            <a:ext cx="2468880" cy="219456"/>
          </a:xfrm>
          <a:prstGeom prst="rect">
            <a:avLst/>
          </a:prstGeom>
          <a:solidFill>
            <a:srgbClr val="4285F4">
              <a:alpha val="15000"/>
            </a:srgbClr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 infra cost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345643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worst failures immediately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46120" y="960120"/>
            <a:ext cx="2697480" cy="3108960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960120"/>
            <a:ext cx="54864" cy="31089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10698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 —  Week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BLEU Scoring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17373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sacrebleu library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20848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reference translations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4323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UI strings and titles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7797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thresholds against editor feedback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3182112"/>
            <a:ext cx="2468880" cy="219456"/>
          </a:xfrm>
          <a:prstGeom prst="rect">
            <a:avLst/>
          </a:prstGeom>
          <a:solidFill>
            <a:srgbClr val="FFB800">
              <a:alpha val="15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0" y="32004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Negligible compute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83280" y="345643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quality baseline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960120"/>
            <a:ext cx="2697480" cy="310896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26480" y="960120"/>
            <a:ext cx="54864" cy="310896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63640" y="10698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 —  Month 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6364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COMET Scoring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17373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COMET as microservice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20848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~2GB model, GPU optional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24323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on long content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27797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9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with Phase 1+2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3182112"/>
            <a:ext cx="2468880" cy="219456"/>
          </a:xfrm>
          <a:prstGeom prst="rect">
            <a:avLst/>
          </a:prstGeom>
          <a:solidFill>
            <a:srgbClr val="00D4A0">
              <a:alpha val="15000"/>
            </a:srgbClr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63640" y="32004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~$50–150/mo microservice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63640" y="345643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quality gate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206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CLAUDE MODELS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4389120"/>
            <a:ext cx="2697480" cy="594360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65760" y="4389120"/>
            <a:ext cx="54864" cy="5943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4462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claude-haiku-4-5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2920" y="4645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$0.80/$4 per M tokens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331720" y="44988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titles, UI strings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46120" y="4389120"/>
            <a:ext cx="2697480" cy="594360"/>
          </a:xfrm>
          <a:prstGeom prst="rect">
            <a:avLst/>
          </a:prstGeom>
          <a:solidFill>
            <a:srgbClr val="0E0E2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46120" y="4389120"/>
            <a:ext cx="54864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383280" y="4462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claude-sonnet-4-6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83280" y="4645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$3/$15 per M tokens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212080" y="44988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descriptions, blog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26480" y="4389120"/>
            <a:ext cx="2697480" cy="594360"/>
          </a:xfrm>
          <a:prstGeom prst="rect">
            <a:avLst/>
          </a:prstGeom>
          <a:solidFill>
            <a:srgbClr val="0E0E20"/>
          </a:solidFill>
          <a:ln w="12700">
            <a:solidFill>
              <a:srgbClr val="E74C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26480" y="4389120"/>
            <a:ext cx="54864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63640" y="4462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claude-opus-4-6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63640" y="4645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$15/$75 per M tokens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092440" y="44988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copy, hero text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D4A0">
              <a:alpha val="8000"/>
            </a:srgbClr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F6B35">
              <a:alpha val="8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4114800" cy="123444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4864" cy="123444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Engine Strategy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737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primary for EU/JA/ZH · Google fallback for 133 languages · Claude for brand voice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92040" y="1325880"/>
            <a:ext cx="4114800" cy="1234440"/>
          </a:xfrm>
          <a:prstGeom prst="rect">
            <a:avLst/>
          </a:prstGeom>
          <a:solidFill>
            <a:srgbClr val="0E0E2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92040" y="1325880"/>
            <a:ext cx="54864" cy="1234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417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 Always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737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glossary ID, formality, content type and brand tone on every API call — never send raw text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4114800" cy="1234440"/>
          </a:xfrm>
          <a:prstGeom prst="rect">
            <a:avLst/>
          </a:prstGeom>
          <a:solidFill>
            <a:srgbClr val="0E0E20"/>
          </a:solidFill>
          <a:ln w="12700">
            <a:solidFill>
              <a:srgbClr val="FFB8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54864" cy="12344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834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Memory First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154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lookup before every API call. 100% hits = $0. Fuzzy hits via rapidfuzz + embeddings. 40–70% cost reduction.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2743200"/>
            <a:ext cx="4114800" cy="1234440"/>
          </a:xfrm>
          <a:prstGeom prst="rect">
            <a:avLst/>
          </a:prstGeom>
          <a:solidFill>
            <a:srgbClr val="0E0E20"/>
          </a:solidFill>
          <a:ln w="12700">
            <a:solidFill>
              <a:srgbClr val="9B59B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92040" y="2743200"/>
            <a:ext cx="54864" cy="1234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2834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Confidence Gate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154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rule checks (day 1) · Phase 2: BLEU (week 1) · Phase 3: COMET microservice (month 1)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315968"/>
            <a:ext cx="8046720" cy="594360"/>
          </a:xfrm>
          <a:prstGeom prst="rect">
            <a:avLst/>
          </a:prstGeom>
          <a:solidFill>
            <a:srgbClr val="0E0E20"/>
          </a:solidFill>
          <a:ln w="127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" y="4315968"/>
            <a:ext cx="54864" cy="59436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4256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savings with full implementation: 40–70% API cost reduction via TM · ~$170–200/mo total for mid-size store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1378</Words>
  <Application>Microsoft Office PowerPoint</Application>
  <PresentationFormat>On-screen Show (16:9)</PresentationFormat>
  <Paragraphs>322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 AI Translation Engine Selection</dc:title>
  <dc:subject>PptxGenJS Presentation</dc:subject>
  <dc:creator>PptxGenJS</dc:creator>
  <cp:lastModifiedBy>Raghavendra Angara</cp:lastModifiedBy>
  <cp:revision>1</cp:revision>
  <dcterms:created xsi:type="dcterms:W3CDTF">2026-03-05T03:38:39Z</dcterms:created>
  <dcterms:modified xsi:type="dcterms:W3CDTF">2026-03-05T19:03:47Z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d36d94c-68fc-470f-8a21-c677f285bcac_Enabled">
    <vt:lpwstr>true</vt:lpwstr>
  </property>
  <property fmtid="{D5CDD505-2E9C-101B-9397-08002B2CF9AE}" pid="3" name="MSIP_Label_4d36d94c-68fc-470f-8a21-c677f285bcac_SetDate">
    <vt:lpwstr>2026-03-05T19:03:38Z</vt:lpwstr>
  </property>
  <property fmtid="{D5CDD505-2E9C-101B-9397-08002B2CF9AE}" pid="4" name="MSIP_Label_4d36d94c-68fc-470f-8a21-c677f285bcac_Method">
    <vt:lpwstr>Standard</vt:lpwstr>
  </property>
  <property fmtid="{D5CDD505-2E9C-101B-9397-08002B2CF9AE}" pid="5" name="MSIP_Label_4d36d94c-68fc-470f-8a21-c677f285bcac_Name">
    <vt:lpwstr>4d36d94c-68fc-470f-8a21-c677f285bcac</vt:lpwstr>
  </property>
  <property fmtid="{D5CDD505-2E9C-101B-9397-08002B2CF9AE}" pid="6" name="MSIP_Label_4d36d94c-68fc-470f-8a21-c677f285bcac_SiteId">
    <vt:lpwstr>1492c3b0-a49f-4b44-a6ee-b7f3b7ba945b</vt:lpwstr>
  </property>
  <property fmtid="{D5CDD505-2E9C-101B-9397-08002B2CF9AE}" pid="7" name="MSIP_Label_4d36d94c-68fc-470f-8a21-c677f285bcac_ActionId">
    <vt:lpwstr>bc685172-2ffd-4b5f-a16f-70606721d896</vt:lpwstr>
  </property>
  <property fmtid="{D5CDD505-2E9C-101B-9397-08002B2CF9AE}" pid="8" name="MSIP_Label_4d36d94c-68fc-470f-8a21-c677f285bcac_ContentBits">
    <vt:lpwstr>0</vt:lpwstr>
  </property>
  <property fmtid="{D5CDD505-2E9C-101B-9397-08002B2CF9AE}" pid="9" name="MSIP_Label_4d36d94c-68fc-470f-8a21-c677f285bcac_Tag">
    <vt:lpwstr>10, 3, 0, 1</vt:lpwstr>
  </property>
</Properties>
</file>